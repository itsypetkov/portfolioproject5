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73"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4AC5D4C-E567-4A04-906B-F210D5E94E69}"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A2BC1-9B69-4AC9-B86C-914A1FFD3CF9}" type="slidenum">
              <a:rPr lang="en-GB" smtClean="0"/>
              <a:t>‹#›</a:t>
            </a:fld>
            <a:endParaRPr lang="en-GB"/>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12521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C5D4C-E567-4A04-906B-F210D5E94E69}"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3213561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AC5D4C-E567-4A04-906B-F210D5E94E69}"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A2BC1-9B69-4AC9-B86C-914A1FFD3CF9}"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18990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AC5D4C-E567-4A04-906B-F210D5E94E69}"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1833191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AC5D4C-E567-4A04-906B-F210D5E94E69}" type="datetimeFigureOut">
              <a:rPr lang="en-GB" smtClean="0"/>
              <a:t>05/02/2026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1155971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AC5D4C-E567-4A04-906B-F210D5E94E69}" type="datetimeFigureOut">
              <a:rPr lang="en-GB" smtClean="0"/>
              <a:t>05/02/2026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934558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C5D4C-E567-4A04-906B-F210D5E94E69}" type="datetimeFigureOut">
              <a:rPr lang="en-GB" smtClean="0"/>
              <a:t>05/02/2026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2509173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AC5D4C-E567-4A04-906B-F210D5E94E69}"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977152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4AC5D4C-E567-4A04-906B-F210D5E94E69}"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A2BC1-9B69-4AC9-B86C-914A1FFD3CF9}"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933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C5D4C-E567-4A04-906B-F210D5E94E69}"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A2BC1-9B69-4AC9-B86C-914A1FFD3CF9}" type="slidenum">
              <a:rPr lang="en-GB" smtClean="0"/>
              <a:t>‹#›</a:t>
            </a:fld>
            <a:endParaRPr lang="en-GB"/>
          </a:p>
        </p:txBody>
      </p:sp>
    </p:spTree>
    <p:extLst>
      <p:ext uri="{BB962C8B-B14F-4D97-AF65-F5344CB8AC3E}">
        <p14:creationId xmlns:p14="http://schemas.microsoft.com/office/powerpoint/2010/main" val="1770881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C5D4C-E567-4A04-906B-F210D5E94E69}" type="datetimeFigureOut">
              <a:rPr lang="en-GB" smtClean="0"/>
              <a:t>05/02/2026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A2BC1-9B69-4AC9-B86C-914A1FFD3CF9}" type="slidenum">
              <a:rPr lang="en-GB" smtClean="0"/>
              <a:t>‹#›</a:t>
            </a:fld>
            <a:endParaRPr lang="en-GB"/>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478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4AC5D4C-E567-4A04-906B-F210D5E94E69}" type="datetimeFigureOut">
              <a:rPr lang="en-GB" smtClean="0"/>
              <a:t>05/02/2026</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21A2BC1-9B69-4AC9-B86C-914A1FFD3CF9}" type="slidenum">
              <a:rPr lang="en-GB" smtClean="0"/>
              <a:t>‹#›</a:t>
            </a:fld>
            <a:endParaRPr lang="en-GB"/>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15660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71C66-EDC4-8CF8-AAE7-EDBE9C98F338}"/>
              </a:ext>
            </a:extLst>
          </p:cNvPr>
          <p:cNvSpPr>
            <a:spLocks noGrp="1"/>
          </p:cNvSpPr>
          <p:nvPr>
            <p:ph type="ctrTitle"/>
          </p:nvPr>
        </p:nvSpPr>
        <p:spPr/>
        <p:txBody>
          <a:bodyPr/>
          <a:lstStyle/>
          <a:p>
            <a:r>
              <a:rPr lang="en-GB" noProof="0" dirty="0"/>
              <a:t>Stakeholder Data Storytelling Report</a:t>
            </a:r>
          </a:p>
        </p:txBody>
      </p:sp>
      <p:sp>
        <p:nvSpPr>
          <p:cNvPr id="3" name="Subtitle 2">
            <a:extLst>
              <a:ext uri="{FF2B5EF4-FFF2-40B4-BE49-F238E27FC236}">
                <a16:creationId xmlns:a16="http://schemas.microsoft.com/office/drawing/2014/main" id="{39D4E9D3-675D-7C60-87E4-E60449A8CEE4}"/>
              </a:ext>
            </a:extLst>
          </p:cNvPr>
          <p:cNvSpPr>
            <a:spLocks noGrp="1"/>
          </p:cNvSpPr>
          <p:nvPr>
            <p:ph type="subTitle" idx="1"/>
          </p:nvPr>
        </p:nvSpPr>
        <p:spPr/>
        <p:txBody>
          <a:bodyPr>
            <a:normAutofit fontScale="85000" lnSpcReduction="20000"/>
          </a:bodyPr>
          <a:lstStyle/>
          <a:p>
            <a:pPr algn="just"/>
            <a:r>
              <a:rPr lang="en-GB" noProof="0" dirty="0"/>
              <a:t>Tool used: MS Excel</a:t>
            </a:r>
          </a:p>
          <a:p>
            <a:pPr algn="just"/>
            <a:r>
              <a:rPr lang="en-GB" u="sng" noProof="0" dirty="0"/>
              <a:t>Author: Hristo Petkov   </a:t>
            </a:r>
          </a:p>
          <a:p>
            <a:pPr algn="just"/>
            <a:r>
              <a:rPr lang="en-GB" noProof="0" dirty="0"/>
              <a:t>Data Analyst * Data Visualisation Specialist * Researcher * Software Developer ** I analyse and visualise data, conduct research and invent new things</a:t>
            </a:r>
          </a:p>
        </p:txBody>
      </p:sp>
    </p:spTree>
    <p:extLst>
      <p:ext uri="{BB962C8B-B14F-4D97-AF65-F5344CB8AC3E}">
        <p14:creationId xmlns:p14="http://schemas.microsoft.com/office/powerpoint/2010/main" val="4025256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D72CA-1637-D8E2-40E5-B50123BAB9BF}"/>
              </a:ext>
            </a:extLst>
          </p:cNvPr>
          <p:cNvSpPr>
            <a:spLocks noGrp="1"/>
          </p:cNvSpPr>
          <p:nvPr>
            <p:ph type="title"/>
          </p:nvPr>
        </p:nvSpPr>
        <p:spPr/>
        <p:txBody>
          <a:bodyPr/>
          <a:lstStyle/>
          <a:p>
            <a:r>
              <a:rPr lang="en-GB" noProof="0" dirty="0"/>
              <a:t>Contents (1)</a:t>
            </a:r>
          </a:p>
        </p:txBody>
      </p:sp>
      <p:sp>
        <p:nvSpPr>
          <p:cNvPr id="3" name="Content Placeholder 2">
            <a:extLst>
              <a:ext uri="{FF2B5EF4-FFF2-40B4-BE49-F238E27FC236}">
                <a16:creationId xmlns:a16="http://schemas.microsoft.com/office/drawing/2014/main" id="{5A36D188-3E1A-1E4A-FBD4-9A2A284ECF24}"/>
              </a:ext>
            </a:extLst>
          </p:cNvPr>
          <p:cNvSpPr>
            <a:spLocks noGrp="1"/>
          </p:cNvSpPr>
          <p:nvPr>
            <p:ph idx="1"/>
          </p:nvPr>
        </p:nvSpPr>
        <p:spPr/>
        <p:txBody>
          <a:bodyPr/>
          <a:lstStyle/>
          <a:p>
            <a:pPr>
              <a:buFont typeface="Wingdings" panose="05000000000000000000" pitchFamily="2" charset="2"/>
              <a:buChar char="Ø"/>
            </a:pPr>
            <a:r>
              <a:rPr lang="en-GB" noProof="0" dirty="0"/>
              <a:t> Introduction</a:t>
            </a:r>
          </a:p>
          <a:p>
            <a:pPr>
              <a:buFont typeface="Wingdings" panose="05000000000000000000" pitchFamily="2" charset="2"/>
              <a:buChar char="Ø"/>
            </a:pPr>
            <a:r>
              <a:rPr lang="en-GB" noProof="0" dirty="0"/>
              <a:t> Analytical Focus &amp; Key Business Questions</a:t>
            </a:r>
          </a:p>
          <a:p>
            <a:pPr>
              <a:buFont typeface="Wingdings" panose="05000000000000000000" pitchFamily="2" charset="2"/>
              <a:buChar char="Ø"/>
            </a:pPr>
            <a:r>
              <a:rPr lang="en-GB" noProof="0" dirty="0"/>
              <a:t> Business Questions Significance</a:t>
            </a:r>
          </a:p>
          <a:p>
            <a:pPr>
              <a:buFont typeface="Wingdings" panose="05000000000000000000" pitchFamily="2" charset="2"/>
              <a:buChar char="Ø"/>
            </a:pPr>
            <a:r>
              <a:rPr lang="en-GB" noProof="0" dirty="0"/>
              <a:t> Dashboard &amp; Visualisations</a:t>
            </a:r>
          </a:p>
          <a:p>
            <a:pPr>
              <a:buFont typeface="Wingdings" panose="05000000000000000000" pitchFamily="2" charset="2"/>
              <a:buChar char="Ø"/>
            </a:pPr>
            <a:r>
              <a:rPr lang="en-GB" noProof="0" dirty="0"/>
              <a:t> Geographic Performance &amp; Growth – Output Analysis Interpretation</a:t>
            </a:r>
          </a:p>
          <a:p>
            <a:pPr lvl="1">
              <a:buFont typeface="Wingdings" panose="05000000000000000000" pitchFamily="2" charset="2"/>
              <a:buChar char="Ø"/>
            </a:pPr>
            <a:r>
              <a:rPr lang="en-GB" noProof="0" dirty="0"/>
              <a:t> Analysis Report </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lvl="1">
              <a:buFont typeface="Wingdings" panose="05000000000000000000" pitchFamily="2" charset="2"/>
              <a:buChar char="Ø"/>
            </a:pPr>
            <a:endParaRPr lang="en-GB" noProof="0" dirty="0"/>
          </a:p>
          <a:p>
            <a:pPr>
              <a:buFont typeface="Wingdings" panose="05000000000000000000" pitchFamily="2" charset="2"/>
              <a:buChar char="Ø"/>
            </a:pPr>
            <a:endParaRPr lang="en-GB" noProof="0" dirty="0"/>
          </a:p>
        </p:txBody>
      </p:sp>
    </p:spTree>
    <p:extLst>
      <p:ext uri="{BB962C8B-B14F-4D97-AF65-F5344CB8AC3E}">
        <p14:creationId xmlns:p14="http://schemas.microsoft.com/office/powerpoint/2010/main" val="199595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C9358-A12C-0711-A32E-9131E2435E37}"/>
              </a:ext>
            </a:extLst>
          </p:cNvPr>
          <p:cNvSpPr>
            <a:spLocks noGrp="1"/>
          </p:cNvSpPr>
          <p:nvPr>
            <p:ph type="title"/>
          </p:nvPr>
        </p:nvSpPr>
        <p:spPr/>
        <p:txBody>
          <a:bodyPr/>
          <a:lstStyle/>
          <a:p>
            <a:r>
              <a:rPr lang="en-GB" noProof="0" dirty="0"/>
              <a:t>CONTENTS (2)</a:t>
            </a:r>
          </a:p>
        </p:txBody>
      </p:sp>
      <p:sp>
        <p:nvSpPr>
          <p:cNvPr id="3" name="Content Placeholder 2">
            <a:extLst>
              <a:ext uri="{FF2B5EF4-FFF2-40B4-BE49-F238E27FC236}">
                <a16:creationId xmlns:a16="http://schemas.microsoft.com/office/drawing/2014/main" id="{2E38CAAE-FA56-C14E-9FBC-8569E3EC188D}"/>
              </a:ext>
            </a:extLst>
          </p:cNvPr>
          <p:cNvSpPr>
            <a:spLocks noGrp="1"/>
          </p:cNvSpPr>
          <p:nvPr>
            <p:ph idx="1"/>
          </p:nvPr>
        </p:nvSpPr>
        <p:spPr/>
        <p:txBody>
          <a:bodyPr/>
          <a:lstStyle/>
          <a:p>
            <a:pPr>
              <a:buFont typeface="Wingdings" panose="05000000000000000000" pitchFamily="2" charset="2"/>
              <a:buChar char="Ø"/>
            </a:pPr>
            <a:r>
              <a:rPr lang="en-GB" noProof="0" dirty="0"/>
              <a:t> Customer Value &amp; Revenue Concentration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a:buFont typeface="Wingdings" panose="05000000000000000000" pitchFamily="2" charset="2"/>
              <a:buChar char="Ø"/>
            </a:pPr>
            <a:r>
              <a:rPr lang="en-GB" noProof="0" dirty="0"/>
              <a:t> Product Portfolio Performance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 </a:t>
            </a:r>
          </a:p>
          <a:p>
            <a:pPr lvl="1">
              <a:buFont typeface="Wingdings" panose="05000000000000000000" pitchFamily="2" charset="2"/>
              <a:buChar char="Ø"/>
            </a:pPr>
            <a:r>
              <a:rPr lang="en-GB" noProof="0" dirty="0"/>
              <a:t> Recommended Strategic Actions </a:t>
            </a:r>
          </a:p>
        </p:txBody>
      </p:sp>
    </p:spTree>
    <p:extLst>
      <p:ext uri="{BB962C8B-B14F-4D97-AF65-F5344CB8AC3E}">
        <p14:creationId xmlns:p14="http://schemas.microsoft.com/office/powerpoint/2010/main" val="1596615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82323-2413-283F-B478-010DFAF1C913}"/>
              </a:ext>
            </a:extLst>
          </p:cNvPr>
          <p:cNvSpPr>
            <a:spLocks noGrp="1"/>
          </p:cNvSpPr>
          <p:nvPr>
            <p:ph type="title"/>
          </p:nvPr>
        </p:nvSpPr>
        <p:spPr/>
        <p:txBody>
          <a:bodyPr/>
          <a:lstStyle/>
          <a:p>
            <a:r>
              <a:rPr lang="en-GB" noProof="0" dirty="0"/>
              <a:t>Contents (3)</a:t>
            </a:r>
          </a:p>
        </p:txBody>
      </p:sp>
      <p:sp>
        <p:nvSpPr>
          <p:cNvPr id="3" name="Content Placeholder 2">
            <a:extLst>
              <a:ext uri="{FF2B5EF4-FFF2-40B4-BE49-F238E27FC236}">
                <a16:creationId xmlns:a16="http://schemas.microsoft.com/office/drawing/2014/main" id="{0EF8246D-E2C8-77F0-30B0-686669E02F1E}"/>
              </a:ext>
            </a:extLst>
          </p:cNvPr>
          <p:cNvSpPr>
            <a:spLocks noGrp="1"/>
          </p:cNvSpPr>
          <p:nvPr>
            <p:ph idx="1"/>
          </p:nvPr>
        </p:nvSpPr>
        <p:spPr/>
        <p:txBody>
          <a:bodyPr/>
          <a:lstStyle/>
          <a:p>
            <a:pPr>
              <a:buFont typeface="Wingdings" panose="05000000000000000000" pitchFamily="2" charset="2"/>
              <a:buChar char="Ø"/>
            </a:pPr>
            <a:r>
              <a:rPr lang="en-GB" noProof="0" dirty="0"/>
              <a:t> Sales Trends, Growth &amp; Seasonality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a:buFont typeface="Wingdings" panose="05000000000000000000" pitchFamily="2" charset="2"/>
              <a:buChar char="Ø"/>
            </a:pPr>
            <a:r>
              <a:rPr lang="en-GB" noProof="0" dirty="0"/>
              <a:t> Account–Product Value Creation - Output Analysis Interpretation</a:t>
            </a:r>
          </a:p>
          <a:p>
            <a:pPr lvl="1">
              <a:buFont typeface="Wingdings" panose="05000000000000000000" pitchFamily="2" charset="2"/>
              <a:buChar char="Ø"/>
            </a:pPr>
            <a:r>
              <a:rPr lang="en-GB" noProof="0" dirty="0"/>
              <a:t> Analysis Report</a:t>
            </a:r>
          </a:p>
          <a:p>
            <a:pPr lvl="1">
              <a:buFont typeface="Wingdings" panose="05000000000000000000" pitchFamily="2" charset="2"/>
              <a:buChar char="Ø"/>
            </a:pPr>
            <a:r>
              <a:rPr lang="en-GB" noProof="0" dirty="0"/>
              <a:t> Key Insights</a:t>
            </a:r>
          </a:p>
          <a:p>
            <a:pPr lvl="1">
              <a:buFont typeface="Wingdings" panose="05000000000000000000" pitchFamily="2" charset="2"/>
              <a:buChar char="Ø"/>
            </a:pPr>
            <a:r>
              <a:rPr lang="en-GB" noProof="0" dirty="0"/>
              <a:t> Business Implications</a:t>
            </a:r>
          </a:p>
          <a:p>
            <a:pPr lvl="1">
              <a:buFont typeface="Wingdings" panose="05000000000000000000" pitchFamily="2" charset="2"/>
              <a:buChar char="Ø"/>
            </a:pPr>
            <a:r>
              <a:rPr lang="en-GB" noProof="0" dirty="0"/>
              <a:t> Recommended Strategic Actions</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Conclusion</a:t>
            </a:r>
          </a:p>
          <a:p>
            <a:pPr lvl="1">
              <a:buFont typeface="Wingdings" panose="05000000000000000000" pitchFamily="2" charset="2"/>
              <a:buChar char="Ø"/>
            </a:pPr>
            <a:endParaRPr lang="en-GB" noProof="0" dirty="0"/>
          </a:p>
        </p:txBody>
      </p:sp>
    </p:spTree>
    <p:extLst>
      <p:ext uri="{BB962C8B-B14F-4D97-AF65-F5344CB8AC3E}">
        <p14:creationId xmlns:p14="http://schemas.microsoft.com/office/powerpoint/2010/main" val="2825358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91047-17B1-60B1-D13E-39A7C5850DA0}"/>
              </a:ext>
            </a:extLst>
          </p:cNvPr>
          <p:cNvSpPr>
            <a:spLocks noGrp="1"/>
          </p:cNvSpPr>
          <p:nvPr>
            <p:ph type="title"/>
          </p:nvPr>
        </p:nvSpPr>
        <p:spPr/>
        <p:txBody>
          <a:bodyPr/>
          <a:lstStyle/>
          <a:p>
            <a:r>
              <a:rPr lang="en-GB" noProof="0" dirty="0"/>
              <a:t>Introduction</a:t>
            </a:r>
          </a:p>
        </p:txBody>
      </p:sp>
      <p:sp>
        <p:nvSpPr>
          <p:cNvPr id="3" name="Content Placeholder 2">
            <a:extLst>
              <a:ext uri="{FF2B5EF4-FFF2-40B4-BE49-F238E27FC236}">
                <a16:creationId xmlns:a16="http://schemas.microsoft.com/office/drawing/2014/main" id="{B9959ED2-64BB-A640-A320-0A4B26404620}"/>
              </a:ext>
            </a:extLst>
          </p:cNvPr>
          <p:cNvSpPr>
            <a:spLocks noGrp="1"/>
          </p:cNvSpPr>
          <p:nvPr>
            <p:ph idx="1"/>
          </p:nvPr>
        </p:nvSpPr>
        <p:spPr/>
        <p:txBody>
          <a:bodyPr>
            <a:normAutofit fontScale="92500" lnSpcReduction="10000"/>
          </a:bodyPr>
          <a:lstStyle/>
          <a:p>
            <a:pPr algn="just"/>
            <a:r>
              <a:rPr lang="en-GB" noProof="0" dirty="0"/>
              <a:t>This report presents a data-driven evaluation of the commercial performance of the fictional company </a:t>
            </a:r>
            <a:r>
              <a:rPr lang="en-GB" i="1" noProof="0" dirty="0"/>
              <a:t>Plant Co.</a:t>
            </a:r>
            <a:r>
              <a:rPr lang="en-GB" noProof="0" dirty="0"/>
              <a:t>, analysing sales, product, and customer dynamics across geographies, customer segments, and product portfolios. The analysis integrates transactional, product, and account-level data to discover performance drivers, identify growth opportunities, and highlight areas of underperformance across markets and customer segments.</a:t>
            </a:r>
          </a:p>
          <a:p>
            <a:pPr algn="just"/>
            <a:r>
              <a:rPr lang="en-GB" noProof="0" dirty="0"/>
              <a:t>Specifically, I examine the following key business questions: 1) geographic performance and market expansion opportunities across countries and regions; 2) customer value and revenue concentration to identify strategic and at-risk accounts; 3) product portfolio performance to assess revenue, volume, and margin contribution by product family and group; 4) sales growth trends and seasonality patterns to support forecasting and operational planning; and 5) high-value product–account combinations to inform cross-sell, upsell, and key account strategies.</a:t>
            </a:r>
          </a:p>
          <a:p>
            <a:pPr algn="just"/>
            <a:r>
              <a:rPr lang="en-GB" noProof="0" dirty="0"/>
              <a:t>This report aims to translate complex sales and operational data into clear, actionable insights that empower leadership to make informed strategic decisions, optimise commercial performance, and drive sustainable, profitable growth.</a:t>
            </a:r>
          </a:p>
        </p:txBody>
      </p:sp>
    </p:spTree>
    <p:extLst>
      <p:ext uri="{BB962C8B-B14F-4D97-AF65-F5344CB8AC3E}">
        <p14:creationId xmlns:p14="http://schemas.microsoft.com/office/powerpoint/2010/main" val="1869451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503E-D2C8-A426-E80B-0488E2F4B0AD}"/>
              </a:ext>
            </a:extLst>
          </p:cNvPr>
          <p:cNvSpPr>
            <a:spLocks noGrp="1"/>
          </p:cNvSpPr>
          <p:nvPr>
            <p:ph type="title"/>
          </p:nvPr>
        </p:nvSpPr>
        <p:spPr/>
        <p:txBody>
          <a:bodyPr/>
          <a:lstStyle/>
          <a:p>
            <a:r>
              <a:rPr lang="en-GB" noProof="0" dirty="0"/>
              <a:t>Analytical Focus &amp; Key Business Questions</a:t>
            </a:r>
          </a:p>
        </p:txBody>
      </p:sp>
      <p:sp>
        <p:nvSpPr>
          <p:cNvPr id="3" name="Content Placeholder 2">
            <a:extLst>
              <a:ext uri="{FF2B5EF4-FFF2-40B4-BE49-F238E27FC236}">
                <a16:creationId xmlns:a16="http://schemas.microsoft.com/office/drawing/2014/main" id="{08601355-C690-B15D-91D8-C9F6BB1797E5}"/>
              </a:ext>
            </a:extLst>
          </p:cNvPr>
          <p:cNvSpPr>
            <a:spLocks noGrp="1"/>
          </p:cNvSpPr>
          <p:nvPr>
            <p:ph idx="1"/>
          </p:nvPr>
        </p:nvSpPr>
        <p:spPr/>
        <p:txBody>
          <a:bodyPr/>
          <a:lstStyle/>
          <a:p>
            <a:pPr marL="457200" indent="-457200" algn="just">
              <a:buFont typeface="+mj-lt"/>
              <a:buAutoNum type="arabicPeriod"/>
            </a:pPr>
            <a:r>
              <a:rPr lang="en-GB" b="1" noProof="0" dirty="0"/>
              <a:t>Geographic Performance &amp; Growth</a:t>
            </a:r>
            <a:r>
              <a:rPr lang="en-GB" noProof="0" dirty="0"/>
              <a:t> – Which countries, regions, and specific locations generate the highest sales and profit? </a:t>
            </a:r>
          </a:p>
          <a:p>
            <a:pPr marL="457200" indent="-457200" algn="just">
              <a:buFont typeface="+mj-lt"/>
              <a:buAutoNum type="arabicPeriod"/>
            </a:pPr>
            <a:r>
              <a:rPr lang="en-GB" b="1" noProof="0" dirty="0"/>
              <a:t>Customer Value &amp; Revenue Concentration</a:t>
            </a:r>
            <a:r>
              <a:rPr lang="en-GB" noProof="0" dirty="0"/>
              <a:t> – Which accounts drive the most revenue and profitability, and how concentrated is our sales base?</a:t>
            </a:r>
          </a:p>
          <a:p>
            <a:pPr marL="457200" indent="-457200" algn="just">
              <a:buFont typeface="+mj-lt"/>
              <a:buAutoNum type="arabicPeriod"/>
            </a:pPr>
            <a:r>
              <a:rPr lang="en-GB" b="1" noProof="0" dirty="0"/>
              <a:t>Product Portfolio Performance</a:t>
            </a:r>
            <a:r>
              <a:rPr lang="en-GB" noProof="0" dirty="0"/>
              <a:t> – Which product families and groups contribute most to revenue, volume, and margin?</a:t>
            </a:r>
          </a:p>
          <a:p>
            <a:pPr marL="457200" indent="-457200" algn="just">
              <a:buFont typeface="+mj-lt"/>
              <a:buAutoNum type="arabicPeriod"/>
            </a:pPr>
            <a:r>
              <a:rPr lang="en-GB" b="1" noProof="0" dirty="0"/>
              <a:t>Sales Trends, Growth &amp; Seasonality</a:t>
            </a:r>
            <a:r>
              <a:rPr lang="en-GB" noProof="0" dirty="0"/>
              <a:t> – How do sales trends evolve over time, and are there seasonality patterns?</a:t>
            </a:r>
          </a:p>
          <a:p>
            <a:pPr marL="457200" indent="-457200" algn="just">
              <a:buFont typeface="+mj-lt"/>
              <a:buAutoNum type="arabicPeriod"/>
            </a:pPr>
            <a:r>
              <a:rPr lang="en-GB" b="1" noProof="0" dirty="0"/>
              <a:t>Account–Product Value Creation</a:t>
            </a:r>
            <a:r>
              <a:rPr lang="en-GB" noProof="0" dirty="0"/>
              <a:t> – Which product–account combinations create the most value?</a:t>
            </a:r>
          </a:p>
          <a:p>
            <a:endParaRPr lang="en-GB" noProof="0" dirty="0"/>
          </a:p>
        </p:txBody>
      </p:sp>
    </p:spTree>
    <p:extLst>
      <p:ext uri="{BB962C8B-B14F-4D97-AF65-F5344CB8AC3E}">
        <p14:creationId xmlns:p14="http://schemas.microsoft.com/office/powerpoint/2010/main" val="3645474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0905-2645-3E23-7D63-C7BC5C6E9797}"/>
              </a:ext>
            </a:extLst>
          </p:cNvPr>
          <p:cNvSpPr>
            <a:spLocks noGrp="1"/>
          </p:cNvSpPr>
          <p:nvPr>
            <p:ph type="title"/>
          </p:nvPr>
        </p:nvSpPr>
        <p:spPr/>
        <p:txBody>
          <a:bodyPr/>
          <a:lstStyle/>
          <a:p>
            <a:r>
              <a:rPr lang="en-GB" noProof="0" dirty="0"/>
              <a:t>Business Questions Significance</a:t>
            </a:r>
          </a:p>
        </p:txBody>
      </p:sp>
      <p:sp>
        <p:nvSpPr>
          <p:cNvPr id="3" name="Content Placeholder 2">
            <a:extLst>
              <a:ext uri="{FF2B5EF4-FFF2-40B4-BE49-F238E27FC236}">
                <a16:creationId xmlns:a16="http://schemas.microsoft.com/office/drawing/2014/main" id="{675ABCB4-9013-0C63-DF05-06FC8946DF48}"/>
              </a:ext>
            </a:extLst>
          </p:cNvPr>
          <p:cNvSpPr>
            <a:spLocks noGrp="1"/>
          </p:cNvSpPr>
          <p:nvPr>
            <p:ph idx="1"/>
          </p:nvPr>
        </p:nvSpPr>
        <p:spPr/>
        <p:txBody>
          <a:bodyPr>
            <a:normAutofit fontScale="92500"/>
          </a:bodyPr>
          <a:lstStyle/>
          <a:p>
            <a:pPr algn="just">
              <a:buFont typeface="Wingdings" panose="05000000000000000000" pitchFamily="2" charset="2"/>
              <a:buChar char="Ø"/>
            </a:pPr>
            <a:r>
              <a:rPr lang="en-GB" noProof="0" dirty="0"/>
              <a:t> </a:t>
            </a:r>
            <a:r>
              <a:rPr lang="en-GB" b="1" noProof="0" dirty="0"/>
              <a:t>Which countries, regions, and specific locations generate the highest sales and profit? </a:t>
            </a:r>
            <a:r>
              <a:rPr lang="en-GB" noProof="0" dirty="0"/>
              <a:t>- Helps leadership prioritise geographic expansion, marketing spend, and sales coverage. </a:t>
            </a:r>
          </a:p>
          <a:p>
            <a:pPr algn="just">
              <a:buFont typeface="Wingdings" panose="05000000000000000000" pitchFamily="2" charset="2"/>
              <a:buChar char="Ø"/>
            </a:pPr>
            <a:r>
              <a:rPr lang="en-GB" noProof="0" dirty="0"/>
              <a:t> </a:t>
            </a:r>
            <a:r>
              <a:rPr lang="en-GB" b="1" noProof="0" dirty="0"/>
              <a:t>Which accounts drive the most revenue and profitability, and how concentrated is our sales base? </a:t>
            </a:r>
            <a:r>
              <a:rPr lang="en-GB" noProof="0" dirty="0"/>
              <a:t>- Supports key account strategy, customer risk management, and sales prioritisation.</a:t>
            </a:r>
          </a:p>
          <a:p>
            <a:pPr algn="just">
              <a:buFont typeface="Wingdings" panose="05000000000000000000" pitchFamily="2" charset="2"/>
              <a:buChar char="Ø"/>
            </a:pPr>
            <a:r>
              <a:rPr lang="en-GB" noProof="0" dirty="0"/>
              <a:t> </a:t>
            </a:r>
            <a:r>
              <a:rPr lang="en-GB" b="1" noProof="0" dirty="0"/>
              <a:t>Which product families and groups contribute most to revenue, volume, and margin? </a:t>
            </a:r>
            <a:r>
              <a:rPr lang="en-GB" noProof="0" dirty="0"/>
              <a:t>- Informs product strategy, portfolio optimisation, and investment decisions.</a:t>
            </a:r>
          </a:p>
          <a:p>
            <a:pPr algn="just">
              <a:buFont typeface="Wingdings" panose="05000000000000000000" pitchFamily="2" charset="2"/>
              <a:buChar char="Ø"/>
            </a:pPr>
            <a:r>
              <a:rPr lang="en-GB" noProof="0" dirty="0"/>
              <a:t> </a:t>
            </a:r>
            <a:r>
              <a:rPr lang="en-GB" b="1" noProof="0" dirty="0"/>
              <a:t>How do sales trends evolve over time, and are there seasonality patterns? </a:t>
            </a:r>
            <a:r>
              <a:rPr lang="en-GB" noProof="0" dirty="0"/>
              <a:t>- Enables forecasting, inventory planning, and resource allocation.</a:t>
            </a:r>
          </a:p>
          <a:p>
            <a:pPr algn="just">
              <a:buFont typeface="Wingdings" panose="05000000000000000000" pitchFamily="2" charset="2"/>
              <a:buChar char="Ø"/>
            </a:pPr>
            <a:r>
              <a:rPr lang="en-GB" noProof="0" dirty="0"/>
              <a:t> </a:t>
            </a:r>
            <a:r>
              <a:rPr lang="en-GB" b="1" noProof="0" dirty="0"/>
              <a:t>Which product–account combinations create the most value? </a:t>
            </a:r>
            <a:r>
              <a:rPr lang="en-GB" noProof="0" dirty="0"/>
              <a:t>-</a:t>
            </a:r>
            <a:r>
              <a:rPr lang="en-GB" b="1" noProof="0" dirty="0"/>
              <a:t> </a:t>
            </a:r>
            <a:r>
              <a:rPr lang="en-GB" noProof="0" dirty="0"/>
              <a:t>Supports cross-sell, upsell, and account-based selling strategies.</a:t>
            </a:r>
          </a:p>
          <a:p>
            <a:pPr algn="just">
              <a:buFont typeface="Wingdings" panose="05000000000000000000" pitchFamily="2" charset="2"/>
              <a:buChar char="Ø"/>
            </a:pPr>
            <a:endParaRPr lang="en-GB" noProof="0" dirty="0"/>
          </a:p>
        </p:txBody>
      </p:sp>
    </p:spTree>
    <p:extLst>
      <p:ext uri="{BB962C8B-B14F-4D97-AF65-F5344CB8AC3E}">
        <p14:creationId xmlns:p14="http://schemas.microsoft.com/office/powerpoint/2010/main" val="3154972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DB7E7-0AC5-9F7E-6F0A-863229F91683}"/>
              </a:ext>
            </a:extLst>
          </p:cNvPr>
          <p:cNvSpPr>
            <a:spLocks noGrp="1"/>
          </p:cNvSpPr>
          <p:nvPr>
            <p:ph type="title"/>
          </p:nvPr>
        </p:nvSpPr>
        <p:spPr/>
        <p:txBody>
          <a:bodyPr/>
          <a:lstStyle/>
          <a:p>
            <a:r>
              <a:rPr lang="en-GB" noProof="0" dirty="0"/>
              <a:t>Dashboard &amp; visualisations</a:t>
            </a:r>
          </a:p>
        </p:txBody>
      </p:sp>
      <p:pic>
        <p:nvPicPr>
          <p:cNvPr id="1026" name="Picture 2" descr="image">
            <a:extLst>
              <a:ext uri="{FF2B5EF4-FFF2-40B4-BE49-F238E27FC236}">
                <a16:creationId xmlns:a16="http://schemas.microsoft.com/office/drawing/2014/main" id="{7384ECED-3976-BF97-28CC-CB997E9B01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4128" y="2084832"/>
            <a:ext cx="9720072" cy="477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57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90196-E02E-E2A0-A443-7009F0B79673}"/>
              </a:ext>
            </a:extLst>
          </p:cNvPr>
          <p:cNvSpPr>
            <a:spLocks noGrp="1"/>
          </p:cNvSpPr>
          <p:nvPr>
            <p:ph type="title"/>
          </p:nvPr>
        </p:nvSpPr>
        <p:spPr/>
        <p:txBody>
          <a:bodyPr/>
          <a:lstStyle/>
          <a:p>
            <a:r>
              <a:rPr lang="en-GB" noProof="0" dirty="0"/>
              <a:t>Geographic Performance &amp; Growth –OUTPUT ANALYSIS INTERPRETATION (1)</a:t>
            </a:r>
          </a:p>
        </p:txBody>
      </p:sp>
      <p:sp>
        <p:nvSpPr>
          <p:cNvPr id="3" name="Content Placeholder 2">
            <a:extLst>
              <a:ext uri="{FF2B5EF4-FFF2-40B4-BE49-F238E27FC236}">
                <a16:creationId xmlns:a16="http://schemas.microsoft.com/office/drawing/2014/main" id="{7BD6C976-1582-652D-58BD-3AD4710CA41C}"/>
              </a:ext>
            </a:extLst>
          </p:cNvPr>
          <p:cNvSpPr>
            <a:spLocks noGrp="1"/>
          </p:cNvSpPr>
          <p:nvPr>
            <p:ph idx="1"/>
          </p:nvPr>
        </p:nvSpPr>
        <p:spPr/>
        <p:txBody>
          <a:bodyPr>
            <a:normAutofit fontScale="92500"/>
          </a:bodyPr>
          <a:lstStyle/>
          <a:p>
            <a:pPr algn="just"/>
            <a:r>
              <a:rPr lang="en-GB" noProof="0" dirty="0"/>
              <a:t>Analysis Report:</a:t>
            </a:r>
          </a:p>
          <a:p>
            <a:pPr algn="just"/>
            <a:r>
              <a:rPr lang="en-GB" sz="1600" noProof="0" dirty="0"/>
              <a:t>The dashboard indicates that while overall YTD quantity performance is positive at +17.05K units, this growth is unevenly distributed across geographies. Several key markets are experiencing significant YoY volume declines, most notably China (-9.76K) and France (-9.36K), which together account for over 55% of the total volume loss among the bottom-performing countries. This suggests that despite strong global performance, regional underperformance is materially diluting growth potential, exposing the business to geographic concentration risk.</a:t>
            </a:r>
          </a:p>
          <a:p>
            <a:pPr algn="just"/>
            <a:r>
              <a:rPr lang="en-GB" sz="1600" noProof="0" dirty="0"/>
              <a:t>Further declines across Sweden (-6.71K), Greece (-4.73K), and Japan (-3.74K) indicate that the performance challenge is not isolated to a single market but rather affects multiple mature and strategically important regions. This pattern suggests possible structural issues, such as shifting market demand, competitive pressure, pricing misalignment, or operational constraints. Without corrective actions, continued underperformance in these regions could erode future revenue streams and weaken market positioning, particularly if these countries historically contributed stable baseline volumes.</a:t>
            </a:r>
          </a:p>
          <a:p>
            <a:pPr algn="just"/>
            <a:r>
              <a:rPr lang="en-GB" sz="1600" noProof="0" dirty="0"/>
              <a:t>At the same time, the positive overall YTD growth implies that strong performance in other countries is compensating for these declines, masking the true severity of the geographic downturn. This imbalance creates a false sense of security, as ongoing reliance on a limited number of high-performing markets increases exposure to regional volatility. A more balanced geographic contribution would strengthen business resilience, improve forecast stability, and reduce dependency risks, making geographic performance optimisation a strategic priority.</a:t>
            </a:r>
          </a:p>
          <a:p>
            <a:pPr algn="just"/>
            <a:endParaRPr lang="en-GB" noProof="0" dirty="0"/>
          </a:p>
          <a:p>
            <a:pPr algn="just"/>
            <a:endParaRPr lang="en-GB" noProof="0" dirty="0"/>
          </a:p>
        </p:txBody>
      </p:sp>
    </p:spTree>
    <p:extLst>
      <p:ext uri="{BB962C8B-B14F-4D97-AF65-F5344CB8AC3E}">
        <p14:creationId xmlns:p14="http://schemas.microsoft.com/office/powerpoint/2010/main" val="162581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FE62-20C6-FA95-2197-BCDDC13C76E6}"/>
              </a:ext>
            </a:extLst>
          </p:cNvPr>
          <p:cNvSpPr>
            <a:spLocks noGrp="1"/>
          </p:cNvSpPr>
          <p:nvPr>
            <p:ph type="title"/>
          </p:nvPr>
        </p:nvSpPr>
        <p:spPr/>
        <p:txBody>
          <a:bodyPr/>
          <a:lstStyle/>
          <a:p>
            <a:r>
              <a:rPr lang="en-GB" noProof="0" dirty="0"/>
              <a:t>Geographic Performance &amp; Growth –OUTPUT ANALYSIS INTERPRETATION (2)</a:t>
            </a:r>
          </a:p>
        </p:txBody>
      </p:sp>
      <p:sp>
        <p:nvSpPr>
          <p:cNvPr id="3" name="Content Placeholder 2">
            <a:extLst>
              <a:ext uri="{FF2B5EF4-FFF2-40B4-BE49-F238E27FC236}">
                <a16:creationId xmlns:a16="http://schemas.microsoft.com/office/drawing/2014/main" id="{66A95A1A-3F7E-1AF7-AAD9-8EABDF4F2DAE}"/>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China and France together represent the largest volume declines, </a:t>
            </a:r>
            <a:r>
              <a:rPr lang="en-GB" noProof="0" dirty="0" err="1"/>
              <a:t>signaling</a:t>
            </a:r>
            <a:r>
              <a:rPr lang="en-GB" noProof="0" dirty="0"/>
              <a:t> urgent performance risks.</a:t>
            </a:r>
          </a:p>
          <a:p>
            <a:pPr algn="just">
              <a:buFont typeface="Wingdings" panose="05000000000000000000" pitchFamily="2" charset="2"/>
              <a:buChar char="Ø"/>
            </a:pPr>
            <a:r>
              <a:rPr lang="en-GB" noProof="0" dirty="0"/>
              <a:t> Multiple European and Asian markets are simultaneously underperforming, indicating systemic regional challenges rather than isolated issues.</a:t>
            </a:r>
          </a:p>
          <a:p>
            <a:pPr algn="just">
              <a:buFont typeface="Wingdings" panose="05000000000000000000" pitchFamily="2" charset="2"/>
              <a:buChar char="Ø"/>
            </a:pPr>
            <a:r>
              <a:rPr lang="en-GB" noProof="0" dirty="0"/>
              <a:t> Overall positive YTD growth is driven by a limited number of strong-performing countries, increasing concentration risk.</a:t>
            </a:r>
          </a:p>
          <a:p>
            <a:pPr algn="just">
              <a:buFont typeface="Wingdings" panose="05000000000000000000" pitchFamily="2" charset="2"/>
              <a:buChar char="Ø"/>
            </a:pPr>
            <a:r>
              <a:rPr lang="en-GB" noProof="0" dirty="0"/>
              <a:t> Geographic imbalance suggests missed revenue opportunities and suboptimal market penetration in key regions.</a:t>
            </a:r>
          </a:p>
        </p:txBody>
      </p:sp>
    </p:spTree>
    <p:extLst>
      <p:ext uri="{BB962C8B-B14F-4D97-AF65-F5344CB8AC3E}">
        <p14:creationId xmlns:p14="http://schemas.microsoft.com/office/powerpoint/2010/main" val="607607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D9F4-8199-1E6E-1953-D759C1DD1C3C}"/>
              </a:ext>
            </a:extLst>
          </p:cNvPr>
          <p:cNvSpPr>
            <a:spLocks noGrp="1"/>
          </p:cNvSpPr>
          <p:nvPr>
            <p:ph type="title"/>
          </p:nvPr>
        </p:nvSpPr>
        <p:spPr/>
        <p:txBody>
          <a:bodyPr/>
          <a:lstStyle/>
          <a:p>
            <a:r>
              <a:rPr lang="en-GB" noProof="0" dirty="0"/>
              <a:t>Geographic Performance &amp; Growth –OUTPUT ANALYSIS INTERPRETATION (3)</a:t>
            </a:r>
          </a:p>
        </p:txBody>
      </p:sp>
      <p:sp>
        <p:nvSpPr>
          <p:cNvPr id="3" name="Content Placeholder 2">
            <a:extLst>
              <a:ext uri="{FF2B5EF4-FFF2-40B4-BE49-F238E27FC236}">
                <a16:creationId xmlns:a16="http://schemas.microsoft.com/office/drawing/2014/main" id="{6D47873E-0134-2EAF-40CE-7AEA65FF9CCB}"/>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Continued underperformance in major markets could impact annual revenue and margin targets.</a:t>
            </a:r>
          </a:p>
          <a:p>
            <a:pPr algn="just">
              <a:buFont typeface="Wingdings" panose="05000000000000000000" pitchFamily="2" charset="2"/>
              <a:buChar char="Ø"/>
            </a:pPr>
            <a:r>
              <a:rPr lang="en-GB" noProof="0" dirty="0"/>
              <a:t> Geographic concentration increases business volatility and forecasting risk.</a:t>
            </a:r>
          </a:p>
          <a:p>
            <a:pPr algn="just">
              <a:buFont typeface="Wingdings" panose="05000000000000000000" pitchFamily="2" charset="2"/>
              <a:buChar char="Ø"/>
            </a:pPr>
            <a:r>
              <a:rPr lang="en-GB" noProof="0" dirty="0"/>
              <a:t> Declining volumes in strategic countries may indicate weakening competitive position or misaligned go-to-market strategies.</a:t>
            </a:r>
          </a:p>
          <a:p>
            <a:pPr algn="just">
              <a:buFont typeface="Wingdings" panose="05000000000000000000" pitchFamily="2" charset="2"/>
              <a:buChar char="Ø"/>
            </a:pPr>
            <a:r>
              <a:rPr lang="en-GB" noProof="0" dirty="0"/>
              <a:t> Failure to address these declines could lead to long-term market share erosion.</a:t>
            </a:r>
          </a:p>
        </p:txBody>
      </p:sp>
    </p:spTree>
    <p:extLst>
      <p:ext uri="{BB962C8B-B14F-4D97-AF65-F5344CB8AC3E}">
        <p14:creationId xmlns:p14="http://schemas.microsoft.com/office/powerpoint/2010/main" val="1777402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BA628-0AEE-9C9C-433E-3A2D39387655}"/>
              </a:ext>
            </a:extLst>
          </p:cNvPr>
          <p:cNvSpPr>
            <a:spLocks noGrp="1"/>
          </p:cNvSpPr>
          <p:nvPr>
            <p:ph type="title"/>
          </p:nvPr>
        </p:nvSpPr>
        <p:spPr/>
        <p:txBody>
          <a:bodyPr/>
          <a:lstStyle/>
          <a:p>
            <a:r>
              <a:rPr lang="en-GB" noProof="0" dirty="0"/>
              <a:t>Geographic Performance &amp; Growth –OUTPUT ANALYSIS INTERPRETATION (4)</a:t>
            </a:r>
          </a:p>
        </p:txBody>
      </p:sp>
      <p:sp>
        <p:nvSpPr>
          <p:cNvPr id="3" name="Content Placeholder 2">
            <a:extLst>
              <a:ext uri="{FF2B5EF4-FFF2-40B4-BE49-F238E27FC236}">
                <a16:creationId xmlns:a16="http://schemas.microsoft.com/office/drawing/2014/main" id="{ED177914-A30D-20FB-C1BC-F2AA7D70E927}"/>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Conduct deep-dive root cause analysis in China and France focusing on pricing, competition, customer churn, and supply chain performance.</a:t>
            </a:r>
          </a:p>
          <a:p>
            <a:pPr algn="just">
              <a:buFont typeface="Wingdings" panose="05000000000000000000" pitchFamily="2" charset="2"/>
              <a:buChar char="Ø"/>
            </a:pPr>
            <a:r>
              <a:rPr lang="en-GB" noProof="0" dirty="0"/>
              <a:t> Launch targeted commercial recovery plans for underperforming countries, including tailored promotions, product mix adjustments, and key account interventions.</a:t>
            </a:r>
          </a:p>
          <a:p>
            <a:pPr algn="just">
              <a:buFont typeface="Wingdings" panose="05000000000000000000" pitchFamily="2" charset="2"/>
              <a:buChar char="Ø"/>
            </a:pPr>
            <a:r>
              <a:rPr lang="en-GB" noProof="0" dirty="0"/>
              <a:t> Strengthen regional sales execution and distributor performance management.</a:t>
            </a:r>
          </a:p>
          <a:p>
            <a:pPr algn="just">
              <a:buFont typeface="Wingdings" panose="05000000000000000000" pitchFamily="2" charset="2"/>
              <a:buChar char="Ø"/>
            </a:pPr>
            <a:r>
              <a:rPr lang="en-GB" noProof="0" dirty="0"/>
              <a:t> Reallocate marketing and sales investments toward high-potential recovery markets to rebalance geographic contribution.</a:t>
            </a:r>
          </a:p>
          <a:p>
            <a:pPr marL="0" indent="0">
              <a:buNone/>
            </a:pPr>
            <a:endParaRPr lang="en-GB" noProof="0" dirty="0"/>
          </a:p>
        </p:txBody>
      </p:sp>
    </p:spTree>
    <p:extLst>
      <p:ext uri="{BB962C8B-B14F-4D97-AF65-F5344CB8AC3E}">
        <p14:creationId xmlns:p14="http://schemas.microsoft.com/office/powerpoint/2010/main" val="1648513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5535-82A9-E7A9-2CAC-9CB201E95C72}"/>
              </a:ext>
            </a:extLst>
          </p:cNvPr>
          <p:cNvSpPr>
            <a:spLocks noGrp="1"/>
          </p:cNvSpPr>
          <p:nvPr>
            <p:ph type="title"/>
          </p:nvPr>
        </p:nvSpPr>
        <p:spPr/>
        <p:txBody>
          <a:bodyPr/>
          <a:lstStyle/>
          <a:p>
            <a:r>
              <a:rPr lang="en-GB" noProof="0" dirty="0"/>
              <a:t>Customer Value &amp; Revenue Concentration – OUTPUT Analysis Interpretation (1)</a:t>
            </a:r>
          </a:p>
        </p:txBody>
      </p:sp>
      <p:sp>
        <p:nvSpPr>
          <p:cNvPr id="3" name="Content Placeholder 2">
            <a:extLst>
              <a:ext uri="{FF2B5EF4-FFF2-40B4-BE49-F238E27FC236}">
                <a16:creationId xmlns:a16="http://schemas.microsoft.com/office/drawing/2014/main" id="{5ADADC34-08A3-FF5A-E36B-D64B9FABFE61}"/>
              </a:ext>
            </a:extLst>
          </p:cNvPr>
          <p:cNvSpPr>
            <a:spLocks noGrp="1"/>
          </p:cNvSpPr>
          <p:nvPr>
            <p:ph idx="1"/>
          </p:nvPr>
        </p:nvSpPr>
        <p:spPr/>
        <p:txBody>
          <a:bodyPr>
            <a:normAutofit fontScale="70000" lnSpcReduction="20000"/>
          </a:bodyPr>
          <a:lstStyle/>
          <a:p>
            <a:pPr marL="0" indent="0" algn="just">
              <a:buNone/>
            </a:pPr>
            <a:r>
              <a:rPr lang="en-GB" sz="2900" noProof="0" dirty="0"/>
              <a:t>Analysis report:</a:t>
            </a:r>
          </a:p>
          <a:p>
            <a:pPr marL="0" indent="0" algn="just">
              <a:buNone/>
            </a:pPr>
            <a:r>
              <a:rPr lang="en-GB" sz="2300" noProof="0" dirty="0"/>
              <a:t>The account-level profitability scatter plot highlights a highly uneven distribution of value across the customer base, indicating that a relatively small proportion of accounts generate a disproportionately large share of total volume and gross profit. Several accounts cluster in the high-volume, high-margin quadrant, representing the most strategically valuable customers of the company. These accounts are critical growth drivers, combining strong purchasing scale with healthy profitability, and therefore warrant prioritised commercial focus, tailored service models, and proactive relationship management to protect and expand their contribution.</a:t>
            </a:r>
          </a:p>
          <a:p>
            <a:pPr marL="0" indent="0" algn="just">
              <a:buNone/>
            </a:pPr>
            <a:r>
              <a:rPr lang="en-GB" sz="2300" noProof="0" dirty="0"/>
              <a:t>Conversely, a significant number of accounts fall into the high-volume but low-margin quadrant, signalling pricing pressure, discount dependency, or inefficient product mix within this segment. While these customers contribute materially to total sales volume, their low profitability suggests suboptimal value capture, exposing the business to margin erosion and commercial risk. Without corrective pricing strategies or targeted product mix optimisation, continued reliance on this segment may inflate topline growth while weakening overall financial performance.</a:t>
            </a:r>
          </a:p>
          <a:p>
            <a:pPr marL="0" indent="0" algn="just">
              <a:buNone/>
            </a:pPr>
            <a:r>
              <a:rPr lang="en-GB" sz="2300" noProof="0" dirty="0"/>
              <a:t>Finally, the long tail of low-volume, low-margin accounts represents a structurally inefficient segment that absorbs sales, logistics, and operational resources while delivering limited economic return. Although individually small, collectively these accounts can exert meaningful cost pressure on the organisation. At the same time, the low-volume, high-margin segment presents a selective growth opportunity, as targeted upsell and cross-sell initiatives could convert these profitable niche customers into scalable revenue contributors. Together, these patterns highlight the strategic importance of rebalancing the customer portfolio to optimise both growth and profitability.</a:t>
            </a:r>
          </a:p>
          <a:p>
            <a:pPr marL="0" indent="0">
              <a:buNone/>
            </a:pPr>
            <a:endParaRPr lang="en-GB" noProof="0" dirty="0"/>
          </a:p>
        </p:txBody>
      </p:sp>
    </p:spTree>
    <p:extLst>
      <p:ext uri="{BB962C8B-B14F-4D97-AF65-F5344CB8AC3E}">
        <p14:creationId xmlns:p14="http://schemas.microsoft.com/office/powerpoint/2010/main" val="3334905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4F26-8088-701E-8C1F-2E9F6102EA03}"/>
              </a:ext>
            </a:extLst>
          </p:cNvPr>
          <p:cNvSpPr>
            <a:spLocks noGrp="1"/>
          </p:cNvSpPr>
          <p:nvPr>
            <p:ph type="title"/>
          </p:nvPr>
        </p:nvSpPr>
        <p:spPr/>
        <p:txBody>
          <a:bodyPr/>
          <a:lstStyle/>
          <a:p>
            <a:r>
              <a:rPr lang="en-GB" noProof="0" dirty="0"/>
              <a:t>Customer Value &amp; Revenue Concentration – OUTPUT Analysis Interpretation (2)</a:t>
            </a:r>
          </a:p>
        </p:txBody>
      </p:sp>
      <p:sp>
        <p:nvSpPr>
          <p:cNvPr id="3" name="Content Placeholder 2">
            <a:extLst>
              <a:ext uri="{FF2B5EF4-FFF2-40B4-BE49-F238E27FC236}">
                <a16:creationId xmlns:a16="http://schemas.microsoft.com/office/drawing/2014/main" id="{650FC369-5207-21C3-FD6A-87C0669F7466}"/>
              </a:ext>
            </a:extLst>
          </p:cNvPr>
          <p:cNvSpPr>
            <a:spLocks noGrp="1"/>
          </p:cNvSpPr>
          <p:nvPr>
            <p:ph idx="1"/>
          </p:nvPr>
        </p:nvSpPr>
        <p:spPr/>
        <p:txBody>
          <a:bodyPr/>
          <a:lstStyle/>
          <a:p>
            <a:pPr marL="0" indent="0" algn="just">
              <a:buNone/>
            </a:pPr>
            <a:r>
              <a:rPr lang="en-GB" noProof="0" dirty="0"/>
              <a:t>Key Insights:</a:t>
            </a:r>
          </a:p>
          <a:p>
            <a:pPr algn="just">
              <a:buFont typeface="Wingdings" panose="05000000000000000000" pitchFamily="2" charset="2"/>
              <a:buChar char="Ø"/>
            </a:pPr>
            <a:r>
              <a:rPr lang="en-GB" noProof="0" dirty="0"/>
              <a:t> Customer value is highly concentrated, with a small number of accounts driving a large share of volume and gross profit.</a:t>
            </a:r>
          </a:p>
          <a:p>
            <a:pPr algn="just">
              <a:buFont typeface="Wingdings" panose="05000000000000000000" pitchFamily="2" charset="2"/>
              <a:buChar char="Ø"/>
            </a:pPr>
            <a:r>
              <a:rPr lang="en-GB" noProof="0" dirty="0"/>
              <a:t> A meaningful portion of volume originates from low-margin accounts, increasing profitability risk.</a:t>
            </a:r>
          </a:p>
          <a:p>
            <a:pPr algn="just">
              <a:buFont typeface="Wingdings" panose="05000000000000000000" pitchFamily="2" charset="2"/>
              <a:buChar char="Ø"/>
            </a:pPr>
            <a:r>
              <a:rPr lang="en-GB" noProof="0" dirty="0"/>
              <a:t> High-volume, low-margin customers indicate pricing inefficiencies and discount dependency.</a:t>
            </a:r>
          </a:p>
          <a:p>
            <a:pPr algn="just">
              <a:buFont typeface="Wingdings" panose="05000000000000000000" pitchFamily="2" charset="2"/>
              <a:buChar char="Ø"/>
            </a:pPr>
            <a:r>
              <a:rPr lang="en-GB" noProof="0" dirty="0"/>
              <a:t> The long tail of low-value customers contributes to operational inefficiency and margin dilution.</a:t>
            </a:r>
          </a:p>
        </p:txBody>
      </p:sp>
    </p:spTree>
    <p:extLst>
      <p:ext uri="{BB962C8B-B14F-4D97-AF65-F5344CB8AC3E}">
        <p14:creationId xmlns:p14="http://schemas.microsoft.com/office/powerpoint/2010/main" val="2587506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D1FB3-6120-6ABE-18A5-0D9FDDFBF929}"/>
              </a:ext>
            </a:extLst>
          </p:cNvPr>
          <p:cNvSpPr>
            <a:spLocks noGrp="1"/>
          </p:cNvSpPr>
          <p:nvPr>
            <p:ph type="title"/>
          </p:nvPr>
        </p:nvSpPr>
        <p:spPr/>
        <p:txBody>
          <a:bodyPr/>
          <a:lstStyle/>
          <a:p>
            <a:r>
              <a:rPr lang="en-GB" noProof="0" dirty="0"/>
              <a:t>Customer Value &amp; Revenue Concentration – OUTPUT Analysis Interpretation (3)</a:t>
            </a:r>
          </a:p>
        </p:txBody>
      </p:sp>
      <p:sp>
        <p:nvSpPr>
          <p:cNvPr id="3" name="Content Placeholder 2">
            <a:extLst>
              <a:ext uri="{FF2B5EF4-FFF2-40B4-BE49-F238E27FC236}">
                <a16:creationId xmlns:a16="http://schemas.microsoft.com/office/drawing/2014/main" id="{96A7744A-55A3-C226-B4B8-52927E919D85}"/>
              </a:ext>
            </a:extLst>
          </p:cNvPr>
          <p:cNvSpPr>
            <a:spLocks noGrp="1"/>
          </p:cNvSpPr>
          <p:nvPr>
            <p:ph idx="1"/>
          </p:nvPr>
        </p:nvSpPr>
        <p:spPr/>
        <p:txBody>
          <a:bodyPr/>
          <a:lstStyle/>
          <a:p>
            <a:pPr marL="0" indent="0" algn="just">
              <a:buNone/>
            </a:pPr>
            <a:r>
              <a:rPr lang="en-GB" noProof="0" dirty="0"/>
              <a:t>Business Implications:</a:t>
            </a:r>
          </a:p>
          <a:p>
            <a:pPr algn="just">
              <a:buFont typeface="Wingdings" panose="05000000000000000000" pitchFamily="2" charset="2"/>
              <a:buChar char="Ø"/>
            </a:pPr>
            <a:r>
              <a:rPr lang="en-GB" noProof="0" dirty="0"/>
              <a:t> Heavy reliance on a small group of strategic accounts increases customer concentration risk.</a:t>
            </a:r>
          </a:p>
          <a:p>
            <a:pPr algn="just">
              <a:buFont typeface="Wingdings" panose="05000000000000000000" pitchFamily="2" charset="2"/>
              <a:buChar char="Ø"/>
            </a:pPr>
            <a:r>
              <a:rPr lang="en-GB" noProof="0" dirty="0"/>
              <a:t> Margin leakage from high-volume, low-margin customers can significantly erode overall profitability.</a:t>
            </a:r>
          </a:p>
          <a:p>
            <a:pPr algn="just">
              <a:buFont typeface="Wingdings" panose="05000000000000000000" pitchFamily="2" charset="2"/>
              <a:buChar char="Ø"/>
            </a:pPr>
            <a:r>
              <a:rPr lang="en-GB" noProof="0" dirty="0"/>
              <a:t> Inefficient servicing of low-value accounts increases cost-to-serve and operational complexity.</a:t>
            </a:r>
          </a:p>
          <a:p>
            <a:pPr algn="just">
              <a:buFont typeface="Wingdings" panose="05000000000000000000" pitchFamily="2" charset="2"/>
              <a:buChar char="Ø"/>
            </a:pPr>
            <a:r>
              <a:rPr lang="en-GB" noProof="0" dirty="0"/>
              <a:t> Failure to convert profitable niche customers into growth accounts represents missed revenue opportunity.</a:t>
            </a:r>
          </a:p>
        </p:txBody>
      </p:sp>
    </p:spTree>
    <p:extLst>
      <p:ext uri="{BB962C8B-B14F-4D97-AF65-F5344CB8AC3E}">
        <p14:creationId xmlns:p14="http://schemas.microsoft.com/office/powerpoint/2010/main" val="1775739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EB40D-39D7-D4E0-15B6-2D5E1C0FC2A7}"/>
              </a:ext>
            </a:extLst>
          </p:cNvPr>
          <p:cNvSpPr>
            <a:spLocks noGrp="1"/>
          </p:cNvSpPr>
          <p:nvPr>
            <p:ph type="title"/>
          </p:nvPr>
        </p:nvSpPr>
        <p:spPr/>
        <p:txBody>
          <a:bodyPr/>
          <a:lstStyle/>
          <a:p>
            <a:r>
              <a:rPr lang="en-GB" noProof="0" dirty="0"/>
              <a:t>Customer Value &amp; Revenue Concentration – OUTPUT Analysis Interpretation (4)</a:t>
            </a:r>
          </a:p>
        </p:txBody>
      </p:sp>
      <p:sp>
        <p:nvSpPr>
          <p:cNvPr id="3" name="Content Placeholder 2">
            <a:extLst>
              <a:ext uri="{FF2B5EF4-FFF2-40B4-BE49-F238E27FC236}">
                <a16:creationId xmlns:a16="http://schemas.microsoft.com/office/drawing/2014/main" id="{6D3B3D55-EF0C-01EF-D1A9-B221E2D2E04F}"/>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Develop tiered account strategies, prioritising investment and service for high-value strategic customers.</a:t>
            </a:r>
          </a:p>
          <a:p>
            <a:pPr algn="just">
              <a:buFont typeface="Wingdings" panose="05000000000000000000" pitchFamily="2" charset="2"/>
              <a:buChar char="Ø"/>
            </a:pPr>
            <a:r>
              <a:rPr lang="en-GB" noProof="0" dirty="0"/>
              <a:t> Implement pricing optimisation and discount governance frameworks for high-volume, low-margin accounts.</a:t>
            </a:r>
          </a:p>
          <a:p>
            <a:pPr algn="just">
              <a:buFont typeface="Wingdings" panose="05000000000000000000" pitchFamily="2" charset="2"/>
              <a:buChar char="Ø"/>
            </a:pPr>
            <a:r>
              <a:rPr lang="en-GB" noProof="0" dirty="0"/>
              <a:t> Launch targeted cross-sell and upsell campaigns for low-volume, high-margin customers.</a:t>
            </a:r>
          </a:p>
          <a:p>
            <a:pPr algn="just">
              <a:buFont typeface="Wingdings" panose="05000000000000000000" pitchFamily="2" charset="2"/>
              <a:buChar char="Ø"/>
            </a:pPr>
            <a:r>
              <a:rPr lang="en-GB" noProof="0" dirty="0"/>
              <a:t> Review and streamline service models for low-value accounts to reduce cost-to-serve.</a:t>
            </a:r>
          </a:p>
        </p:txBody>
      </p:sp>
    </p:spTree>
    <p:extLst>
      <p:ext uri="{BB962C8B-B14F-4D97-AF65-F5344CB8AC3E}">
        <p14:creationId xmlns:p14="http://schemas.microsoft.com/office/powerpoint/2010/main" val="1040720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3C24-A130-69A8-9F70-EC72977A724A}"/>
              </a:ext>
            </a:extLst>
          </p:cNvPr>
          <p:cNvSpPr>
            <a:spLocks noGrp="1"/>
          </p:cNvSpPr>
          <p:nvPr>
            <p:ph type="title"/>
          </p:nvPr>
        </p:nvSpPr>
        <p:spPr/>
        <p:txBody>
          <a:bodyPr/>
          <a:lstStyle/>
          <a:p>
            <a:r>
              <a:rPr lang="en-GB" noProof="0" dirty="0"/>
              <a:t>Product Portfolio Performance – output analysis interpretation (1) </a:t>
            </a:r>
          </a:p>
        </p:txBody>
      </p:sp>
      <p:sp>
        <p:nvSpPr>
          <p:cNvPr id="3" name="Content Placeholder 2">
            <a:extLst>
              <a:ext uri="{FF2B5EF4-FFF2-40B4-BE49-F238E27FC236}">
                <a16:creationId xmlns:a16="http://schemas.microsoft.com/office/drawing/2014/main" id="{17BB83FA-114A-DCB8-709E-60E9E58BDEFF}"/>
              </a:ext>
            </a:extLst>
          </p:cNvPr>
          <p:cNvSpPr>
            <a:spLocks noGrp="1"/>
          </p:cNvSpPr>
          <p:nvPr>
            <p:ph idx="1"/>
          </p:nvPr>
        </p:nvSpPr>
        <p:spPr/>
        <p:txBody>
          <a:bodyPr>
            <a:normAutofit fontScale="70000" lnSpcReduction="20000"/>
          </a:bodyPr>
          <a:lstStyle/>
          <a:p>
            <a:pPr marL="0" indent="0">
              <a:buNone/>
            </a:pPr>
            <a:r>
              <a:rPr lang="en-GB" sz="2900" noProof="0" dirty="0"/>
              <a:t>Analysis Report:</a:t>
            </a:r>
          </a:p>
          <a:p>
            <a:pPr marL="0" indent="0" algn="just">
              <a:buNone/>
            </a:pPr>
            <a:r>
              <a:rPr lang="en-GB" sz="2300" noProof="0" dirty="0"/>
              <a:t>The dashboard reveals that overall volume performance is driven by a small number of dominant product types, with clear variation in contribution across months. The stacked monthly view highlights that Outdoor and Landscape products account for most of the total volume, while Indoor products contribute a smaller but more stable baseline. This indicates a portfolio heavily weighted toward seasonal, project-driven demand, increasing sensitivity to weather conditions, construction cycles, and discretionary spending patterns.</a:t>
            </a:r>
          </a:p>
          <a:p>
            <a:pPr marL="0" indent="0" algn="just">
              <a:buNone/>
            </a:pPr>
            <a:r>
              <a:rPr lang="en-GB" sz="2300" noProof="0" dirty="0"/>
              <a:t>A closer look at monthly product trends shows pronounced seasonality in Outdoor and Landscape categories, particularly during the second and the third quarter, where strong growth offsets weaker performance earlier and later in the year. This seasonal dependence exposes the business to revenue volatility and forecasting risk, while also creating operational challenges in inventory management, production planning, and logistics. In contrast, Indoor products demonstrate relatively stable demand throughout the year, suggesting they serve as a revenue stabiliser during off-peak seasons and offer opportunities to smooth total sales performance.</a:t>
            </a:r>
          </a:p>
          <a:p>
            <a:pPr marL="0" indent="0" algn="just">
              <a:buNone/>
            </a:pPr>
            <a:r>
              <a:rPr lang="en-GB" sz="2300" noProof="0" dirty="0"/>
              <a:t>From a portfolio optimisation perspective, the current product mix presents both growth leverage and risk exposure. While Outdoor and Landscape products clearly function as volume engines, their cyclical nature makes overall business performance vulnerable to seasonal downturns. Meanwhile, the comparatively smaller contribution of Indoor products indicates unrealised potential to rebalance the portfolio toward higher stability and margin resilience. Optimising product mix by strengthening year-round categories and selectively expanding high-performing seasonal segments would enhance revenue predictability, margin stability, and long-term portfolio health.</a:t>
            </a:r>
          </a:p>
          <a:p>
            <a:pPr marL="0" indent="0" algn="just">
              <a:buNone/>
            </a:pPr>
            <a:endParaRPr lang="en-GB" noProof="0" dirty="0"/>
          </a:p>
        </p:txBody>
      </p:sp>
    </p:spTree>
    <p:extLst>
      <p:ext uri="{BB962C8B-B14F-4D97-AF65-F5344CB8AC3E}">
        <p14:creationId xmlns:p14="http://schemas.microsoft.com/office/powerpoint/2010/main" val="3154934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FF55-2A0E-DE98-6B10-FC74335F0230}"/>
              </a:ext>
            </a:extLst>
          </p:cNvPr>
          <p:cNvSpPr>
            <a:spLocks noGrp="1"/>
          </p:cNvSpPr>
          <p:nvPr>
            <p:ph type="title"/>
          </p:nvPr>
        </p:nvSpPr>
        <p:spPr/>
        <p:txBody>
          <a:bodyPr/>
          <a:lstStyle/>
          <a:p>
            <a:r>
              <a:rPr lang="en-GB" noProof="0" dirty="0"/>
              <a:t>Product Portfolio Performance – output analysis interpretation (2) </a:t>
            </a:r>
          </a:p>
        </p:txBody>
      </p:sp>
      <p:sp>
        <p:nvSpPr>
          <p:cNvPr id="3" name="Content Placeholder 2">
            <a:extLst>
              <a:ext uri="{FF2B5EF4-FFF2-40B4-BE49-F238E27FC236}">
                <a16:creationId xmlns:a16="http://schemas.microsoft.com/office/drawing/2014/main" id="{9D881CD6-B717-68CD-AB7C-A4168388724E}"/>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Sales volume is concentrated in Outdoor and Landscape product types.</a:t>
            </a:r>
          </a:p>
          <a:p>
            <a:pPr algn="just">
              <a:buFont typeface="Wingdings" panose="05000000000000000000" pitchFamily="2" charset="2"/>
              <a:buChar char="Ø"/>
            </a:pPr>
            <a:r>
              <a:rPr lang="en-GB" noProof="0" dirty="0"/>
              <a:t> Product demand displays strong seasonal patterns, particularly in the second and third quarter of the year.</a:t>
            </a:r>
          </a:p>
          <a:p>
            <a:pPr algn="just">
              <a:buFont typeface="Wingdings" panose="05000000000000000000" pitchFamily="2" charset="2"/>
              <a:buChar char="Ø"/>
            </a:pPr>
            <a:r>
              <a:rPr lang="en-GB" noProof="0" dirty="0"/>
              <a:t> Indoor products provide more stable year-round performance but remain under-leveraged.</a:t>
            </a:r>
          </a:p>
          <a:p>
            <a:pPr algn="just">
              <a:buFont typeface="Wingdings" panose="05000000000000000000" pitchFamily="2" charset="2"/>
              <a:buChar char="Ø"/>
            </a:pPr>
            <a:r>
              <a:rPr lang="en-GB" noProof="0" dirty="0"/>
              <a:t> Product mix imbalance increases forecasting, inventory, and operational risk.</a:t>
            </a:r>
          </a:p>
          <a:p>
            <a:pPr algn="just">
              <a:buFont typeface="Wingdings" panose="05000000000000000000" pitchFamily="2" charset="2"/>
              <a:buChar char="Ø"/>
            </a:pPr>
            <a:r>
              <a:rPr lang="en-GB" noProof="0" dirty="0"/>
              <a:t> Portfolio performance is exposed to seasonality-driven volatility.</a:t>
            </a:r>
          </a:p>
        </p:txBody>
      </p:sp>
    </p:spTree>
    <p:extLst>
      <p:ext uri="{BB962C8B-B14F-4D97-AF65-F5344CB8AC3E}">
        <p14:creationId xmlns:p14="http://schemas.microsoft.com/office/powerpoint/2010/main" val="2339718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B834-6B05-114A-DDE8-F0F750E61AF7}"/>
              </a:ext>
            </a:extLst>
          </p:cNvPr>
          <p:cNvSpPr>
            <a:spLocks noGrp="1"/>
          </p:cNvSpPr>
          <p:nvPr>
            <p:ph type="title"/>
          </p:nvPr>
        </p:nvSpPr>
        <p:spPr/>
        <p:txBody>
          <a:bodyPr/>
          <a:lstStyle/>
          <a:p>
            <a:r>
              <a:rPr lang="en-GB" noProof="0" dirty="0"/>
              <a:t>Product Portfolio Performance – output analysis interpretation (3) </a:t>
            </a:r>
          </a:p>
        </p:txBody>
      </p:sp>
      <p:sp>
        <p:nvSpPr>
          <p:cNvPr id="3" name="Content Placeholder 2">
            <a:extLst>
              <a:ext uri="{FF2B5EF4-FFF2-40B4-BE49-F238E27FC236}">
                <a16:creationId xmlns:a16="http://schemas.microsoft.com/office/drawing/2014/main" id="{57A2F0A5-8989-068A-5674-4E464C4B834F}"/>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Heavy reliance on seasonal products heightens revenue volatility and demand uncertainty.</a:t>
            </a:r>
          </a:p>
          <a:p>
            <a:pPr algn="just">
              <a:buFont typeface="Wingdings" panose="05000000000000000000" pitchFamily="2" charset="2"/>
              <a:buChar char="Ø"/>
            </a:pPr>
            <a:r>
              <a:rPr lang="en-GB" noProof="0" dirty="0"/>
              <a:t> Inventory planning becomes more complex, increasing stock-out and overstock risk.</a:t>
            </a:r>
          </a:p>
          <a:p>
            <a:pPr algn="just">
              <a:buFont typeface="Wingdings" panose="05000000000000000000" pitchFamily="2" charset="2"/>
              <a:buChar char="Ø"/>
            </a:pPr>
            <a:r>
              <a:rPr lang="en-GB" noProof="0" dirty="0"/>
              <a:t> Underutilisation of stable product categories represents missed revenue smoothing opportunities.</a:t>
            </a:r>
          </a:p>
          <a:p>
            <a:pPr algn="just">
              <a:buFont typeface="Wingdings" panose="05000000000000000000" pitchFamily="2" charset="2"/>
              <a:buChar char="Ø"/>
            </a:pPr>
            <a:r>
              <a:rPr lang="en-GB" noProof="0" dirty="0"/>
              <a:t> Product mix imbalance may contribute to margin instability across quarters.</a:t>
            </a:r>
          </a:p>
        </p:txBody>
      </p:sp>
    </p:spTree>
    <p:extLst>
      <p:ext uri="{BB962C8B-B14F-4D97-AF65-F5344CB8AC3E}">
        <p14:creationId xmlns:p14="http://schemas.microsoft.com/office/powerpoint/2010/main" val="2443294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77A16-A32A-5D0A-08F5-690C49FF6717}"/>
              </a:ext>
            </a:extLst>
          </p:cNvPr>
          <p:cNvSpPr>
            <a:spLocks noGrp="1"/>
          </p:cNvSpPr>
          <p:nvPr>
            <p:ph type="title"/>
          </p:nvPr>
        </p:nvSpPr>
        <p:spPr/>
        <p:txBody>
          <a:bodyPr/>
          <a:lstStyle/>
          <a:p>
            <a:r>
              <a:rPr lang="en-GB" noProof="0" dirty="0"/>
              <a:t>Product Portfolio Performance – output analysis interpretation (4) </a:t>
            </a:r>
          </a:p>
        </p:txBody>
      </p:sp>
      <p:sp>
        <p:nvSpPr>
          <p:cNvPr id="3" name="Content Placeholder 2">
            <a:extLst>
              <a:ext uri="{FF2B5EF4-FFF2-40B4-BE49-F238E27FC236}">
                <a16:creationId xmlns:a16="http://schemas.microsoft.com/office/drawing/2014/main" id="{B48494E6-3E9F-52F4-9C26-E0429071AA3A}"/>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Expand Indoor product ranges and promotions to strengthen non-seasonal demand.</a:t>
            </a:r>
          </a:p>
          <a:p>
            <a:pPr algn="just">
              <a:buFont typeface="Wingdings" panose="05000000000000000000" pitchFamily="2" charset="2"/>
              <a:buChar char="Ø"/>
            </a:pPr>
            <a:r>
              <a:rPr lang="en-GB" noProof="0" dirty="0"/>
              <a:t> Introduce product bundling strategies that combine seasonal and non-seasonal items to stabilise revenue.</a:t>
            </a:r>
          </a:p>
          <a:p>
            <a:pPr algn="just">
              <a:buFont typeface="Wingdings" panose="05000000000000000000" pitchFamily="2" charset="2"/>
              <a:buChar char="Ø"/>
            </a:pPr>
            <a:r>
              <a:rPr lang="en-GB" noProof="0" dirty="0"/>
              <a:t> Implement seasonality-adjusted inventory planning models.</a:t>
            </a:r>
          </a:p>
          <a:p>
            <a:pPr algn="just">
              <a:buFont typeface="Wingdings" panose="05000000000000000000" pitchFamily="2" charset="2"/>
              <a:buChar char="Ø"/>
            </a:pPr>
            <a:r>
              <a:rPr lang="en-GB" noProof="0" dirty="0"/>
              <a:t> Optimise product lifecycle management, focusing investment on high-growth, high-margin categories.</a:t>
            </a:r>
          </a:p>
        </p:txBody>
      </p:sp>
    </p:spTree>
    <p:extLst>
      <p:ext uri="{BB962C8B-B14F-4D97-AF65-F5344CB8AC3E}">
        <p14:creationId xmlns:p14="http://schemas.microsoft.com/office/powerpoint/2010/main" val="2964057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1F16D-BB15-3468-4E9E-EAA917C06B53}"/>
              </a:ext>
            </a:extLst>
          </p:cNvPr>
          <p:cNvSpPr>
            <a:spLocks noGrp="1"/>
          </p:cNvSpPr>
          <p:nvPr>
            <p:ph type="title"/>
          </p:nvPr>
        </p:nvSpPr>
        <p:spPr/>
        <p:txBody>
          <a:bodyPr/>
          <a:lstStyle/>
          <a:p>
            <a:r>
              <a:rPr lang="en-GB" noProof="0" dirty="0"/>
              <a:t>Sales Trends, Growth &amp; Seasonality – output analysis interpretation (1)</a:t>
            </a:r>
          </a:p>
        </p:txBody>
      </p:sp>
      <p:sp>
        <p:nvSpPr>
          <p:cNvPr id="3" name="Content Placeholder 2">
            <a:extLst>
              <a:ext uri="{FF2B5EF4-FFF2-40B4-BE49-F238E27FC236}">
                <a16:creationId xmlns:a16="http://schemas.microsoft.com/office/drawing/2014/main" id="{E3047FF8-A0A2-C5BE-92FA-60E12ABD2585}"/>
              </a:ext>
            </a:extLst>
          </p:cNvPr>
          <p:cNvSpPr>
            <a:spLocks noGrp="1"/>
          </p:cNvSpPr>
          <p:nvPr>
            <p:ph idx="1"/>
          </p:nvPr>
        </p:nvSpPr>
        <p:spPr/>
        <p:txBody>
          <a:bodyPr>
            <a:normAutofit fontScale="77500" lnSpcReduction="20000"/>
          </a:bodyPr>
          <a:lstStyle/>
          <a:p>
            <a:pPr marL="0" indent="0">
              <a:buNone/>
            </a:pPr>
            <a:r>
              <a:rPr lang="en-GB" sz="2600" noProof="0" dirty="0"/>
              <a:t>Analysis Report</a:t>
            </a:r>
            <a:r>
              <a:rPr lang="en-GB" noProof="0" dirty="0"/>
              <a:t>:</a:t>
            </a:r>
          </a:p>
          <a:p>
            <a:pPr marL="0" indent="0" algn="just">
              <a:buNone/>
            </a:pPr>
            <a:r>
              <a:rPr lang="en-GB" noProof="0" dirty="0"/>
              <a:t>The dashboard indicates that overall YTD volume performance is positive at +17.05K units, yet the underlying monthly trends reveal significant variability throughout the year. Strong growth in April (+12K), May (+5K), June (+5K), and July (+13K) is partially offset by declines in January (-6K), February (-4K), September (-8K), October (-4K), and November (-2K). This uneven distribution of growth highlights a highly seasonal business model, where performance is disproportionately concentrated in a limited number of peak months.</a:t>
            </a:r>
          </a:p>
          <a:p>
            <a:pPr marL="0" indent="0" algn="just">
              <a:buNone/>
            </a:pPr>
            <a:r>
              <a:rPr lang="en-GB" noProof="0" dirty="0"/>
              <a:t>The waterfall analysis further demonstrates that the second quarter and early third quarter function as the primary growth engines, driven largely by favourable seasonal demand, while the first quarter and late third-fourth quarters represent structural low-demand periods. This pattern suggests that the operational and commercial rhythms of the company must be carefully synchronised with seasonal demand cycles to maximise performance. Without such alignment, the business risks inventory inefficiencies, resource underutilisation, and inconsistent service levels during both peak and off-peak periods.</a:t>
            </a:r>
          </a:p>
          <a:p>
            <a:pPr marL="0" indent="0" algn="just">
              <a:buNone/>
            </a:pPr>
            <a:r>
              <a:rPr lang="en-GB" noProof="0" dirty="0"/>
              <a:t>From a strategic perspective, the pronounced seasonality exposes the organisation to forecast volatility and revenue instability, particularly in adverse market conditions. While peak months deliver substantial growth, the depth of troughs in off-peak periods erodes cumulative gains and increases dependence on short-term performance surges. Developing strategies to smooth demand across the year, such as targeted promotions, diversified product offerings, and flexible sales planning, would significantly enhance financial predictability, operational efficiency, and long-term resilience.</a:t>
            </a:r>
          </a:p>
        </p:txBody>
      </p:sp>
    </p:spTree>
    <p:extLst>
      <p:ext uri="{BB962C8B-B14F-4D97-AF65-F5344CB8AC3E}">
        <p14:creationId xmlns:p14="http://schemas.microsoft.com/office/powerpoint/2010/main" val="518658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6EB05-FE57-C501-D749-EA10421EDEB8}"/>
              </a:ext>
            </a:extLst>
          </p:cNvPr>
          <p:cNvSpPr>
            <a:spLocks noGrp="1"/>
          </p:cNvSpPr>
          <p:nvPr>
            <p:ph type="title"/>
          </p:nvPr>
        </p:nvSpPr>
        <p:spPr/>
        <p:txBody>
          <a:bodyPr/>
          <a:lstStyle/>
          <a:p>
            <a:r>
              <a:rPr lang="en-GB" noProof="0" dirty="0"/>
              <a:t>Sales Trends, Growth &amp; Seasonality – output analysis interpretation (2)</a:t>
            </a:r>
          </a:p>
        </p:txBody>
      </p:sp>
      <p:sp>
        <p:nvSpPr>
          <p:cNvPr id="3" name="Content Placeholder 2">
            <a:extLst>
              <a:ext uri="{FF2B5EF4-FFF2-40B4-BE49-F238E27FC236}">
                <a16:creationId xmlns:a16="http://schemas.microsoft.com/office/drawing/2014/main" id="{033432FE-5F4E-2E50-77A4-8ABB12BCF76A}"/>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Business performance exhibits strong seasonal fluctuations.</a:t>
            </a:r>
          </a:p>
          <a:p>
            <a:pPr algn="just">
              <a:buFont typeface="Wingdings" panose="05000000000000000000" pitchFamily="2" charset="2"/>
              <a:buChar char="Ø"/>
            </a:pPr>
            <a:r>
              <a:rPr lang="en-GB" noProof="0" dirty="0"/>
              <a:t> Growth is heavily concentrated in the second and early third quarter.</a:t>
            </a:r>
          </a:p>
          <a:p>
            <a:pPr algn="just">
              <a:buFont typeface="Wingdings" panose="05000000000000000000" pitchFamily="2" charset="2"/>
              <a:buChar char="Ø"/>
            </a:pPr>
            <a:r>
              <a:rPr lang="en-GB" noProof="0" dirty="0"/>
              <a:t> Early and late-year months consistently underperform.</a:t>
            </a:r>
          </a:p>
          <a:p>
            <a:pPr algn="just">
              <a:buFont typeface="Wingdings" panose="05000000000000000000" pitchFamily="2" charset="2"/>
              <a:buChar char="Ø"/>
            </a:pPr>
            <a:r>
              <a:rPr lang="en-GB" noProof="0" dirty="0"/>
              <a:t> Overall positive YTD growth masks significant intra-year volatility.</a:t>
            </a:r>
          </a:p>
          <a:p>
            <a:pPr algn="just">
              <a:buFont typeface="Wingdings" panose="05000000000000000000" pitchFamily="2" charset="2"/>
              <a:buChar char="Ø"/>
            </a:pPr>
            <a:r>
              <a:rPr lang="en-GB" noProof="0" dirty="0"/>
              <a:t> Current trends increase forecasting complexity and planning risk.</a:t>
            </a:r>
          </a:p>
        </p:txBody>
      </p:sp>
    </p:spTree>
    <p:extLst>
      <p:ext uri="{BB962C8B-B14F-4D97-AF65-F5344CB8AC3E}">
        <p14:creationId xmlns:p14="http://schemas.microsoft.com/office/powerpoint/2010/main" val="180555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91D28-103B-2BAE-047E-9F4E4347D8A8}"/>
              </a:ext>
            </a:extLst>
          </p:cNvPr>
          <p:cNvSpPr>
            <a:spLocks noGrp="1"/>
          </p:cNvSpPr>
          <p:nvPr>
            <p:ph type="title"/>
          </p:nvPr>
        </p:nvSpPr>
        <p:spPr/>
        <p:txBody>
          <a:bodyPr/>
          <a:lstStyle/>
          <a:p>
            <a:r>
              <a:rPr lang="en-GB" noProof="0" dirty="0"/>
              <a:t>Sales Trends, Growth &amp; Seasonality – output analysis interpretation (3)</a:t>
            </a:r>
          </a:p>
        </p:txBody>
      </p:sp>
      <p:sp>
        <p:nvSpPr>
          <p:cNvPr id="3" name="Content Placeholder 2">
            <a:extLst>
              <a:ext uri="{FF2B5EF4-FFF2-40B4-BE49-F238E27FC236}">
                <a16:creationId xmlns:a16="http://schemas.microsoft.com/office/drawing/2014/main" id="{DF636E24-E703-2046-992F-01CDF1726341}"/>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Seasonal volatility increases revenue and cash flow uncertainty.</a:t>
            </a:r>
          </a:p>
          <a:p>
            <a:pPr algn="just">
              <a:buFont typeface="Wingdings" panose="05000000000000000000" pitchFamily="2" charset="2"/>
              <a:buChar char="Ø"/>
            </a:pPr>
            <a:r>
              <a:rPr lang="en-GB" noProof="0" dirty="0"/>
              <a:t> Operational planning faces challenges related to capacity scaling and inventory balancing.</a:t>
            </a:r>
          </a:p>
          <a:p>
            <a:pPr algn="just">
              <a:buFont typeface="Wingdings" panose="05000000000000000000" pitchFamily="2" charset="2"/>
              <a:buChar char="Ø"/>
            </a:pPr>
            <a:r>
              <a:rPr lang="en-GB" noProof="0" dirty="0"/>
              <a:t> Sales resource deployment becomes inefficient during off-peak periods.</a:t>
            </a:r>
          </a:p>
          <a:p>
            <a:pPr algn="just">
              <a:buFont typeface="Wingdings" panose="05000000000000000000" pitchFamily="2" charset="2"/>
              <a:buChar char="Ø"/>
            </a:pPr>
            <a:r>
              <a:rPr lang="en-GB" noProof="0" dirty="0"/>
              <a:t> Heavy reliance on short peak periods heightens business risk exposure.</a:t>
            </a:r>
          </a:p>
        </p:txBody>
      </p:sp>
    </p:spTree>
    <p:extLst>
      <p:ext uri="{BB962C8B-B14F-4D97-AF65-F5344CB8AC3E}">
        <p14:creationId xmlns:p14="http://schemas.microsoft.com/office/powerpoint/2010/main" val="2654513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6A0A9-C8AF-3D60-E50E-BC9FA02BF76D}"/>
              </a:ext>
            </a:extLst>
          </p:cNvPr>
          <p:cNvSpPr>
            <a:spLocks noGrp="1"/>
          </p:cNvSpPr>
          <p:nvPr>
            <p:ph type="title"/>
          </p:nvPr>
        </p:nvSpPr>
        <p:spPr/>
        <p:txBody>
          <a:bodyPr/>
          <a:lstStyle/>
          <a:p>
            <a:r>
              <a:rPr lang="en-GB" noProof="0" dirty="0"/>
              <a:t>Sales Trends, Growth &amp; Seasonality – output analysis interpretation (4)</a:t>
            </a:r>
          </a:p>
        </p:txBody>
      </p:sp>
      <p:sp>
        <p:nvSpPr>
          <p:cNvPr id="3" name="Content Placeholder 2">
            <a:extLst>
              <a:ext uri="{FF2B5EF4-FFF2-40B4-BE49-F238E27FC236}">
                <a16:creationId xmlns:a16="http://schemas.microsoft.com/office/drawing/2014/main" id="{01DC2EFE-6AFC-EDAC-6167-39BDC9D885AD}"/>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Implement seasonality-adjusted forecasting models.</a:t>
            </a:r>
          </a:p>
          <a:p>
            <a:pPr algn="just">
              <a:buFont typeface="Wingdings" panose="05000000000000000000" pitchFamily="2" charset="2"/>
              <a:buChar char="Ø"/>
            </a:pPr>
            <a:r>
              <a:rPr lang="en-GB" noProof="0" dirty="0"/>
              <a:t> Launch off-season demand stimulation campaigns, such as targeted promotions and bundled offerings.</a:t>
            </a:r>
          </a:p>
          <a:p>
            <a:pPr algn="just">
              <a:buFont typeface="Wingdings" panose="05000000000000000000" pitchFamily="2" charset="2"/>
              <a:buChar char="Ø"/>
            </a:pPr>
            <a:r>
              <a:rPr lang="en-GB" noProof="0" dirty="0"/>
              <a:t> Optimise inventory and production planning cycles around peak and trough demand periods.</a:t>
            </a:r>
          </a:p>
          <a:p>
            <a:pPr algn="just">
              <a:buFont typeface="Wingdings" panose="05000000000000000000" pitchFamily="2" charset="2"/>
              <a:buChar char="Ø"/>
            </a:pPr>
            <a:r>
              <a:rPr lang="en-GB" noProof="0" dirty="0"/>
              <a:t> Introduce flexible staffing and logistics models to scale efficiently across seasonal demand shifts.</a:t>
            </a:r>
          </a:p>
          <a:p>
            <a:pPr algn="just">
              <a:buFont typeface="Wingdings" panose="05000000000000000000" pitchFamily="2" charset="2"/>
              <a:buChar char="Ø"/>
            </a:pPr>
            <a:r>
              <a:rPr lang="en-GB" noProof="0" dirty="0"/>
              <a:t> Develop seasonality KPIs to track volatility, growth stability, and forecast accuracy.</a:t>
            </a:r>
          </a:p>
        </p:txBody>
      </p:sp>
    </p:spTree>
    <p:extLst>
      <p:ext uri="{BB962C8B-B14F-4D97-AF65-F5344CB8AC3E}">
        <p14:creationId xmlns:p14="http://schemas.microsoft.com/office/powerpoint/2010/main" val="371496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1A43-FB39-7130-591D-E1C0277EEB38}"/>
              </a:ext>
            </a:extLst>
          </p:cNvPr>
          <p:cNvSpPr>
            <a:spLocks noGrp="1"/>
          </p:cNvSpPr>
          <p:nvPr>
            <p:ph type="title"/>
          </p:nvPr>
        </p:nvSpPr>
        <p:spPr/>
        <p:txBody>
          <a:bodyPr/>
          <a:lstStyle/>
          <a:p>
            <a:r>
              <a:rPr lang="en-GB" noProof="0" dirty="0"/>
              <a:t>Account–Product Value Creation - output analysis interpretation (1)</a:t>
            </a:r>
          </a:p>
        </p:txBody>
      </p:sp>
      <p:sp>
        <p:nvSpPr>
          <p:cNvPr id="3" name="Content Placeholder 2">
            <a:extLst>
              <a:ext uri="{FF2B5EF4-FFF2-40B4-BE49-F238E27FC236}">
                <a16:creationId xmlns:a16="http://schemas.microsoft.com/office/drawing/2014/main" id="{77438EA5-BC5C-B50E-7132-154D5A980DCC}"/>
              </a:ext>
            </a:extLst>
          </p:cNvPr>
          <p:cNvSpPr>
            <a:spLocks noGrp="1"/>
          </p:cNvSpPr>
          <p:nvPr>
            <p:ph idx="1"/>
          </p:nvPr>
        </p:nvSpPr>
        <p:spPr/>
        <p:txBody>
          <a:bodyPr>
            <a:normAutofit fontScale="70000" lnSpcReduction="20000"/>
          </a:bodyPr>
          <a:lstStyle/>
          <a:p>
            <a:pPr marL="0" indent="0">
              <a:buNone/>
            </a:pPr>
            <a:r>
              <a:rPr lang="en-GB" sz="2900" noProof="0" dirty="0"/>
              <a:t>Analysis Report:</a:t>
            </a:r>
          </a:p>
          <a:p>
            <a:pPr marL="0" indent="0" algn="just">
              <a:buNone/>
            </a:pPr>
            <a:r>
              <a:rPr lang="en-GB" sz="2300" noProof="0" dirty="0"/>
              <a:t>The dashboard highlights clear segmentation in customer profitability and purchasing volume, revealing substantial differences in how accounts engage with the product portfolio. High-volume, high-margin customers demonstrate strong alignment between product mix, pricing, and customer needs, indicating successful account penetration and effective cross-sell execution. These relationships represent the most valuable commercial partnerships for the company, where tailored product offerings and targeted sales strategies generate both scale and profitability.</a:t>
            </a:r>
          </a:p>
          <a:p>
            <a:pPr marL="0" indent="0" algn="just">
              <a:buNone/>
            </a:pPr>
            <a:r>
              <a:rPr lang="en-GB" sz="2300" noProof="0" dirty="0"/>
              <a:t>In contrast, a sizable portion of high-volume customers operates at low margin, suggesting misalignment between product mix and pricing structures. This indicates under-leveraged cross-sell potential, where customers concentrate purchases in lower-margin products while higher-margin complementary offerings remain underutilised. At the same time, low-volume but high-margin customers reveal niche demand patterns, presenting opportunities to expand wallet share through carefully designed upsell and portfolio expansion strategies. Together, these dynamics underscore the importance of product–account matching as a key driver of sustainable value creation.</a:t>
            </a:r>
          </a:p>
          <a:p>
            <a:pPr marL="0" indent="0" algn="just">
              <a:buNone/>
            </a:pPr>
            <a:r>
              <a:rPr lang="en-GB" sz="2300" noProof="0" dirty="0"/>
              <a:t>Strategically, the business stands to unlock significant incremental value by systematically aligning product offerings with customer-specific demand profiles. By embedding data-driven insights into sales execution, account planning, and promotional design, the company can improve conversion efficiency, enhance customer lifetime value, and reduce reliance on discount-driven volume growth. A disciplined approach to cross-sell and upsell execution will enable the organisation to maximise revenue per account while strengthening customer loyalty and commercial resilience.</a:t>
            </a:r>
          </a:p>
        </p:txBody>
      </p:sp>
    </p:spTree>
    <p:extLst>
      <p:ext uri="{BB962C8B-B14F-4D97-AF65-F5344CB8AC3E}">
        <p14:creationId xmlns:p14="http://schemas.microsoft.com/office/powerpoint/2010/main" val="2477766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E93B3-0752-6279-F066-33D8820F53B3}"/>
              </a:ext>
            </a:extLst>
          </p:cNvPr>
          <p:cNvSpPr>
            <a:spLocks noGrp="1"/>
          </p:cNvSpPr>
          <p:nvPr>
            <p:ph type="title"/>
          </p:nvPr>
        </p:nvSpPr>
        <p:spPr/>
        <p:txBody>
          <a:bodyPr/>
          <a:lstStyle/>
          <a:p>
            <a:r>
              <a:rPr lang="en-GB" noProof="0" dirty="0"/>
              <a:t>Account–Product Value Creation - output analysis interpretation (2)</a:t>
            </a:r>
          </a:p>
        </p:txBody>
      </p:sp>
      <p:sp>
        <p:nvSpPr>
          <p:cNvPr id="3" name="Content Placeholder 2">
            <a:extLst>
              <a:ext uri="{FF2B5EF4-FFF2-40B4-BE49-F238E27FC236}">
                <a16:creationId xmlns:a16="http://schemas.microsoft.com/office/drawing/2014/main" id="{E1ADEAFC-0A66-B544-604B-0999203B88FD}"/>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High-value customers exhibit strong product–account alignment.</a:t>
            </a:r>
          </a:p>
          <a:p>
            <a:pPr algn="just">
              <a:buFont typeface="Wingdings" panose="05000000000000000000" pitchFamily="2" charset="2"/>
              <a:buChar char="Ø"/>
            </a:pPr>
            <a:r>
              <a:rPr lang="en-GB" noProof="0" dirty="0"/>
              <a:t> High-volume, low-margin accounts indicate missed cross-sell and upsell opportunities.</a:t>
            </a:r>
          </a:p>
          <a:p>
            <a:pPr algn="just">
              <a:buFont typeface="Wingdings" panose="05000000000000000000" pitchFamily="2" charset="2"/>
              <a:buChar char="Ø"/>
            </a:pPr>
            <a:r>
              <a:rPr lang="en-GB" noProof="0" dirty="0"/>
              <a:t> Low-volume, high-margin customers represent scalable growth potential.</a:t>
            </a:r>
          </a:p>
          <a:p>
            <a:pPr algn="just">
              <a:buFont typeface="Wingdings" panose="05000000000000000000" pitchFamily="2" charset="2"/>
              <a:buChar char="Ø"/>
            </a:pPr>
            <a:r>
              <a:rPr lang="en-GB" noProof="0" dirty="0"/>
              <a:t> Product mix optimisation at account level is a critical lever for margin improvement.</a:t>
            </a:r>
          </a:p>
          <a:p>
            <a:pPr algn="just">
              <a:buFont typeface="Wingdings" panose="05000000000000000000" pitchFamily="2" charset="2"/>
              <a:buChar char="Ø"/>
            </a:pPr>
            <a:r>
              <a:rPr lang="en-GB" noProof="0" dirty="0"/>
              <a:t> Systematic cross-sell strategies can materially increase customer lifetime value.</a:t>
            </a:r>
          </a:p>
        </p:txBody>
      </p:sp>
    </p:spTree>
    <p:extLst>
      <p:ext uri="{BB962C8B-B14F-4D97-AF65-F5344CB8AC3E}">
        <p14:creationId xmlns:p14="http://schemas.microsoft.com/office/powerpoint/2010/main" val="3544841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60AC-3687-D597-5A24-D70964AC68A0}"/>
              </a:ext>
            </a:extLst>
          </p:cNvPr>
          <p:cNvSpPr>
            <a:spLocks noGrp="1"/>
          </p:cNvSpPr>
          <p:nvPr>
            <p:ph type="title"/>
          </p:nvPr>
        </p:nvSpPr>
        <p:spPr/>
        <p:txBody>
          <a:bodyPr/>
          <a:lstStyle/>
          <a:p>
            <a:r>
              <a:rPr lang="en-GB" noProof="0" dirty="0"/>
              <a:t>Account–Product Value Creation - output analysis interpretation (3)</a:t>
            </a:r>
          </a:p>
        </p:txBody>
      </p:sp>
      <p:sp>
        <p:nvSpPr>
          <p:cNvPr id="3" name="Content Placeholder 2">
            <a:extLst>
              <a:ext uri="{FF2B5EF4-FFF2-40B4-BE49-F238E27FC236}">
                <a16:creationId xmlns:a16="http://schemas.microsoft.com/office/drawing/2014/main" id="{BD204ABA-1A28-09DE-F817-FD9BD629A309}"/>
              </a:ext>
            </a:extLst>
          </p:cNvPr>
          <p:cNvSpPr>
            <a:spLocks noGrp="1"/>
          </p:cNvSpPr>
          <p:nvPr>
            <p:ph idx="1"/>
          </p:nvPr>
        </p:nvSpPr>
        <p:spPr/>
        <p:txBody>
          <a:bodyPr/>
          <a:lstStyle/>
          <a:p>
            <a:pPr marL="0" indent="0">
              <a:buNone/>
            </a:pPr>
            <a:r>
              <a:rPr lang="en-GB" noProof="0" dirty="0"/>
              <a:t>Business Implications:</a:t>
            </a:r>
          </a:p>
          <a:p>
            <a:pPr>
              <a:buFont typeface="Wingdings" panose="05000000000000000000" pitchFamily="2" charset="2"/>
              <a:buChar char="Ø"/>
            </a:pPr>
            <a:r>
              <a:rPr lang="en-GB" noProof="0" dirty="0"/>
              <a:t> Failure to optimise product–account matching leads to margin leakage and suboptimal revenue capture.</a:t>
            </a:r>
          </a:p>
          <a:p>
            <a:pPr>
              <a:buFont typeface="Wingdings" panose="05000000000000000000" pitchFamily="2" charset="2"/>
              <a:buChar char="Ø"/>
            </a:pPr>
            <a:r>
              <a:rPr lang="en-GB" noProof="0" dirty="0"/>
              <a:t> Ineffective cross-sell execution increases dependence on price-led volume growth.</a:t>
            </a:r>
          </a:p>
          <a:p>
            <a:pPr>
              <a:buFont typeface="Wingdings" panose="05000000000000000000" pitchFamily="2" charset="2"/>
              <a:buChar char="Ø"/>
            </a:pPr>
            <a:r>
              <a:rPr lang="en-GB" noProof="0" dirty="0"/>
              <a:t> Unrealised upsell potential limits account expansion and long-term profitability.</a:t>
            </a:r>
          </a:p>
          <a:p>
            <a:pPr>
              <a:buFont typeface="Wingdings" panose="05000000000000000000" pitchFamily="2" charset="2"/>
              <a:buChar char="Ø"/>
            </a:pPr>
            <a:r>
              <a:rPr lang="en-GB" noProof="0" dirty="0"/>
              <a:t> Lack of structured account-product strategy weakens competitive differentiation.</a:t>
            </a:r>
          </a:p>
        </p:txBody>
      </p:sp>
    </p:spTree>
    <p:extLst>
      <p:ext uri="{BB962C8B-B14F-4D97-AF65-F5344CB8AC3E}">
        <p14:creationId xmlns:p14="http://schemas.microsoft.com/office/powerpoint/2010/main" val="3961776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8F586-2628-104D-FEB4-0A12EF216D7E}"/>
              </a:ext>
            </a:extLst>
          </p:cNvPr>
          <p:cNvSpPr>
            <a:spLocks noGrp="1"/>
          </p:cNvSpPr>
          <p:nvPr>
            <p:ph type="title"/>
          </p:nvPr>
        </p:nvSpPr>
        <p:spPr/>
        <p:txBody>
          <a:bodyPr/>
          <a:lstStyle/>
          <a:p>
            <a:r>
              <a:rPr lang="en-GB" noProof="0" dirty="0"/>
              <a:t>Account–Product Value Creation - output analysis interpretation (4)</a:t>
            </a:r>
          </a:p>
        </p:txBody>
      </p:sp>
      <p:sp>
        <p:nvSpPr>
          <p:cNvPr id="3" name="Content Placeholder 2">
            <a:extLst>
              <a:ext uri="{FF2B5EF4-FFF2-40B4-BE49-F238E27FC236}">
                <a16:creationId xmlns:a16="http://schemas.microsoft.com/office/drawing/2014/main" id="{06677EBD-AC7C-978B-04C0-D8546EA50C67}"/>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Develop account-level product affinity models to guide cross-sell targeting.</a:t>
            </a:r>
          </a:p>
          <a:p>
            <a:pPr algn="just">
              <a:buFont typeface="Wingdings" panose="05000000000000000000" pitchFamily="2" charset="2"/>
              <a:buChar char="Ø"/>
            </a:pPr>
            <a:r>
              <a:rPr lang="en-GB" noProof="0" dirty="0"/>
              <a:t> Implement structured cross-sell playbooks for strategic and growth accounts.</a:t>
            </a:r>
          </a:p>
          <a:p>
            <a:pPr algn="just">
              <a:buFont typeface="Wingdings" panose="05000000000000000000" pitchFamily="2" charset="2"/>
              <a:buChar char="Ø"/>
            </a:pPr>
            <a:r>
              <a:rPr lang="en-GB" noProof="0" dirty="0"/>
              <a:t> Introduce incentive mechanisms aligned to margin and product mix improvement, not just volume.</a:t>
            </a:r>
          </a:p>
          <a:p>
            <a:pPr algn="just">
              <a:buFont typeface="Wingdings" panose="05000000000000000000" pitchFamily="2" charset="2"/>
              <a:buChar char="Ø"/>
            </a:pPr>
            <a:r>
              <a:rPr lang="en-GB" noProof="0" dirty="0"/>
              <a:t> Deploy personalised product recommendations within sales planning and Customer Relationship Management (CRM) workflows.</a:t>
            </a:r>
          </a:p>
          <a:p>
            <a:pPr algn="just">
              <a:buFont typeface="Wingdings" panose="05000000000000000000" pitchFamily="2" charset="2"/>
              <a:buChar char="Ø"/>
            </a:pPr>
            <a:r>
              <a:rPr lang="en-GB" noProof="0" dirty="0"/>
              <a:t> Establish account-product Key Performance Indicators (KPI) to track mix quality, margin uplift, and cross-sell conversion.</a:t>
            </a:r>
          </a:p>
        </p:txBody>
      </p:sp>
    </p:spTree>
    <p:extLst>
      <p:ext uri="{BB962C8B-B14F-4D97-AF65-F5344CB8AC3E}">
        <p14:creationId xmlns:p14="http://schemas.microsoft.com/office/powerpoint/2010/main" val="4142194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E259-0683-197D-10CE-4CEFD6EC71B7}"/>
              </a:ext>
            </a:extLst>
          </p:cNvPr>
          <p:cNvSpPr>
            <a:spLocks noGrp="1"/>
          </p:cNvSpPr>
          <p:nvPr>
            <p:ph type="title"/>
          </p:nvPr>
        </p:nvSpPr>
        <p:spPr/>
        <p:txBody>
          <a:bodyPr/>
          <a:lstStyle/>
          <a:p>
            <a:r>
              <a:rPr lang="en-GB" noProof="0" dirty="0"/>
              <a:t>Conclusion</a:t>
            </a:r>
          </a:p>
        </p:txBody>
      </p:sp>
      <p:sp>
        <p:nvSpPr>
          <p:cNvPr id="3" name="Content Placeholder 2">
            <a:extLst>
              <a:ext uri="{FF2B5EF4-FFF2-40B4-BE49-F238E27FC236}">
                <a16:creationId xmlns:a16="http://schemas.microsoft.com/office/drawing/2014/main" id="{F6D3EA0A-DD29-C6C5-7654-CB3A73C82A9F}"/>
              </a:ext>
            </a:extLst>
          </p:cNvPr>
          <p:cNvSpPr>
            <a:spLocks noGrp="1"/>
          </p:cNvSpPr>
          <p:nvPr>
            <p:ph idx="1"/>
          </p:nvPr>
        </p:nvSpPr>
        <p:spPr/>
        <p:txBody>
          <a:bodyPr/>
          <a:lstStyle/>
          <a:p>
            <a:pPr marL="0" indent="0">
              <a:buNone/>
            </a:pPr>
            <a:r>
              <a:rPr lang="en-GB" noProof="0" dirty="0"/>
              <a:t>This analysis shows that while overall performance is positive, growth is unevenly distributed across geographies, customers, products, and time, masking underlying structural risks. Geographic concentration and underperformance in key markets expose the business to regional volatility, while customer value is heavily concentrated among a small group of accounts, increasing dependency and margin risk. At the same time, the product portfolio remains overly reliant on seasonal categories, driving demand volatility and operational complexity, with sales growth concentrated in limited peak periods. </a:t>
            </a:r>
            <a:r>
              <a:rPr lang="en-GB" noProof="0"/>
              <a:t>Significant unrealised </a:t>
            </a:r>
            <a:r>
              <a:rPr lang="en-GB" noProof="0" dirty="0"/>
              <a:t>value exists through improved product–account alignment, particularly via structured cross-sell and upsell strategies. Future success will therefore depend not on increasing volume alone, but on rebalancing geographic performance, improving customer portfolio quality, stabilising product mix, and embedding data-driven commercial execution to deliver sustainable, profitable growth.</a:t>
            </a:r>
          </a:p>
        </p:txBody>
      </p:sp>
    </p:spTree>
    <p:extLst>
      <p:ext uri="{BB962C8B-B14F-4D97-AF65-F5344CB8AC3E}">
        <p14:creationId xmlns:p14="http://schemas.microsoft.com/office/powerpoint/2010/main" val="3987760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0</TotalTime>
  <Words>3271</Words>
  <Application>Microsoft Office PowerPoint</Application>
  <PresentationFormat>Widescreen</PresentationFormat>
  <Paragraphs>176</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Tw Cen MT</vt:lpstr>
      <vt:lpstr>Tw Cen MT Condensed</vt:lpstr>
      <vt:lpstr>Wingdings</vt:lpstr>
      <vt:lpstr>Wingdings 3</vt:lpstr>
      <vt:lpstr>Integral</vt:lpstr>
      <vt:lpstr>Stakeholder Data Storytelling Report</vt:lpstr>
      <vt:lpstr>Contents (1)</vt:lpstr>
      <vt:lpstr>CONTENTS (2)</vt:lpstr>
      <vt:lpstr>Contents (3)</vt:lpstr>
      <vt:lpstr>Introduction</vt:lpstr>
      <vt:lpstr>Analytical Focus &amp; Key Business Questions</vt:lpstr>
      <vt:lpstr>Business Questions Significance</vt:lpstr>
      <vt:lpstr>Dashboard &amp; visualisations</vt:lpstr>
      <vt:lpstr>Geographic Performance &amp; Growth –OUTPUT ANALYSIS INTERPRETATION (1)</vt:lpstr>
      <vt:lpstr>Geographic Performance &amp; Growth –OUTPUT ANALYSIS INTERPRETATION (2)</vt:lpstr>
      <vt:lpstr>Geographic Performance &amp; Growth –OUTPUT ANALYSIS INTERPRETATION (3)</vt:lpstr>
      <vt:lpstr>Geographic Performance &amp; Growth –OUTPUT ANALYSIS INTERPRETATION (4)</vt:lpstr>
      <vt:lpstr>Customer Value &amp; Revenue Concentration – OUTPUT Analysis Interpretation (1)</vt:lpstr>
      <vt:lpstr>Customer Value &amp; Revenue Concentration – OUTPUT Analysis Interpretation (2)</vt:lpstr>
      <vt:lpstr>Customer Value &amp; Revenue Concentration – OUTPUT Analysis Interpretation (3)</vt:lpstr>
      <vt:lpstr>Customer Value &amp; Revenue Concentration – OUTPUT Analysis Interpretation (4)</vt:lpstr>
      <vt:lpstr>Product Portfolio Performance – output analysis interpretation (1) </vt:lpstr>
      <vt:lpstr>Product Portfolio Performance – output analysis interpretation (2) </vt:lpstr>
      <vt:lpstr>Product Portfolio Performance – output analysis interpretation (3) </vt:lpstr>
      <vt:lpstr>Product Portfolio Performance – output analysis interpretation (4) </vt:lpstr>
      <vt:lpstr>Sales Trends, Growth &amp; Seasonality – output analysis interpretation (1)</vt:lpstr>
      <vt:lpstr>Sales Trends, Growth &amp; Seasonality – output analysis interpretation (2)</vt:lpstr>
      <vt:lpstr>Sales Trends, Growth &amp; Seasonality – output analysis interpretation (3)</vt:lpstr>
      <vt:lpstr>Sales Trends, Growth &amp; Seasonality – output analysis interpretation (4)</vt:lpstr>
      <vt:lpstr>Account–Product Value Creation - output analysis interpretation (1)</vt:lpstr>
      <vt:lpstr>Account–Product Value Creation - output analysis interpretation (2)</vt:lpstr>
      <vt:lpstr>Account–Product Value Creation - output analysis interpretation (3)</vt:lpstr>
      <vt:lpstr>Account–Product Value Creation - output analysis interpretation (4)</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Hristo Petkov</dc:creator>
  <cp:lastModifiedBy>Hristo Petkov</cp:lastModifiedBy>
  <cp:revision>101</cp:revision>
  <dcterms:created xsi:type="dcterms:W3CDTF">2026-02-04T16:20:48Z</dcterms:created>
  <dcterms:modified xsi:type="dcterms:W3CDTF">2026-02-05T14:14:17Z</dcterms:modified>
</cp:coreProperties>
</file>